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1675"/>
  <p:notesSz cx="6858000" cy="9144000"/>
  <p:embeddedFontLst>
    <p:embeddedFont>
      <p:font typeface="Play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-bold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b66e356f_0_1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b66e356f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fb66e356f_0_15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fb66e356f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b66e356f_0_1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fb66e356f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fb66e356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fb66e356f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fb66e356f_0_15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fb66e356f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fb66e356f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fb66e356f_0_5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fb66e356f_38_2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fb66e356f_38_2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fb66e356f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efb66e356f_0_7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fb66e356f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fb66e356f_0_1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efb66e356f_38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efb66e356f_38_1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efb66e356f_38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efb66e356f_38_1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efb66e356f_0_1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efb66e356f_0_1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efb66e356f_38_2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efb66e356f_38_2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efb66e356f_38_25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efb66e356f_38_2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efb66e356f_0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efb66e356f_0_1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676" cy="6861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075" y="1504325"/>
            <a:ext cx="2368500" cy="23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 rotWithShape="1">
          <a:blip r:embed="rId4">
            <a:alphaModFix/>
          </a:blip>
          <a:srcRect b="38745" l="35718" r="20733" t="29065"/>
          <a:stretch/>
        </p:blipFill>
        <p:spPr>
          <a:xfrm>
            <a:off x="3102625" y="1519974"/>
            <a:ext cx="2368500" cy="233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9625" y="1504324"/>
            <a:ext cx="2368500" cy="23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8551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02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571500" y="713232"/>
            <a:ext cx="7041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Task and dataset</a:t>
            </a:r>
            <a:endParaRPr b="1" sz="28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1500" y="1219200"/>
            <a:ext cx="73152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Conditional generation on Modified Swiss Dwellings, scored as rendered layouts.</a:t>
            </a:r>
            <a:endParaRPr b="0" sz="13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71500" y="1809750"/>
            <a:ext cx="1666800" cy="1238400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666750" y="1924050"/>
            <a:ext cx="14763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 b="1" sz="8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66750" y="2171700"/>
            <a:ext cx="14763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5,372</a:t>
            </a:r>
            <a:endParaRPr b="1" sz="2800">
              <a:solidFill>
                <a:srgbClr val="009F8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66750" y="2686050"/>
            <a:ext cx="14763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plan_id plans</a:t>
            </a:r>
            <a:endParaRPr b="0" sz="9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400300" y="1809750"/>
            <a:ext cx="1666800" cy="1238400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2495550" y="1924050"/>
            <a:ext cx="14763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GEOMETRY</a:t>
            </a:r>
            <a:endParaRPr b="1" sz="8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495550" y="2171700"/>
            <a:ext cx="14763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203k</a:t>
            </a:r>
            <a:endParaRPr b="1" sz="2800">
              <a:solidFill>
                <a:srgbClr val="F25F4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495550" y="2686050"/>
            <a:ext cx="14763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room polygons</a:t>
            </a:r>
            <a:endParaRPr b="0" sz="9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238625" y="1809750"/>
            <a:ext cx="1666800" cy="1238400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333875" y="1924050"/>
            <a:ext cx="14763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b="1" sz="8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333875" y="2171700"/>
            <a:ext cx="14763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2B134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1" sz="2800">
              <a:solidFill>
                <a:srgbClr val="F2B13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333875" y="2686050"/>
            <a:ext cx="14763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 only</a:t>
            </a:r>
            <a:endParaRPr b="0" sz="9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71500" y="3286125"/>
            <a:ext cx="5334000" cy="1476300"/>
          </a:xfrm>
          <a:prstGeom prst="roundRect">
            <a:avLst>
              <a:gd fmla="val 10322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09625" y="3476625"/>
            <a:ext cx="48579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DATA CONTRACT</a:t>
            </a:r>
            <a:endParaRPr b="1" sz="1100">
              <a:solidFill>
                <a:srgbClr val="009F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09625" y="3762375"/>
            <a:ext cx="48579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`geom` WKT, `entity_type == area`, grouped by `plan_id`.</a:t>
            </a:r>
            <a:endParaRPr b="0" sz="125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 = buffer(+0.3) union buffer(-0.3).</a:t>
            </a:r>
            <a:endParaRPr b="0" sz="12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71500" y="4953000"/>
            <a:ext cx="5334000" cy="904800"/>
          </a:xfrm>
          <a:prstGeom prst="roundRect">
            <a:avLst>
              <a:gd fmla="val 16842" name="adj"/>
            </a:avLst>
          </a:prstGeom>
          <a:solidFill>
            <a:srgbClr val="EAF6F4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09625" y="5095875"/>
            <a:ext cx="48579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Evaluation:</a:t>
            </a: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 FID lower is better; Density and Coverage higher are better.</a:t>
            </a:r>
            <a:endParaRPr b="1" sz="13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286500" y="1809750"/>
            <a:ext cx="5334000" cy="4048200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g_room_types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5570" y="2400300"/>
            <a:ext cx="4974300" cy="28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600" y="-48712"/>
            <a:ext cx="12302876" cy="695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03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OutlineFlow model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 pure rectified-flow set Transformer conditioned only on boundary points.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31520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31520" y="1828800"/>
            <a:ext cx="2148840" cy="109728"/>
          </a:xfrm>
          <a:prstGeom prst="rect">
            <a:avLst/>
          </a:prstGeom>
          <a:solidFill>
            <a:srgbClr val="3A8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87782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Gaussian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room tokens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2990088" y="2176272"/>
            <a:ext cx="530352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520439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520439" y="1828800"/>
            <a:ext cx="2148840" cy="109728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66674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v_theta(x_t, t,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outline)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79008" y="2176272"/>
            <a:ext cx="530352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309359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309359" y="1828800"/>
            <a:ext cx="2148840" cy="109728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45566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sampled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room tokens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567928" y="2176272"/>
            <a:ext cx="530352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098280" y="1828800"/>
            <a:ext cx="21488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098280" y="1828800"/>
            <a:ext cx="2148840" cy="109728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9244584" y="2130552"/>
            <a:ext cx="185623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valid typed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polygons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2560320" y="3749039"/>
            <a:ext cx="7132320" cy="804672"/>
          </a:xfrm>
          <a:prstGeom prst="roundRect">
            <a:avLst>
              <a:gd fmla="val 16667" name="adj"/>
            </a:avLst>
          </a:prstGeom>
          <a:solidFill>
            <a:srgbClr val="ECF7F4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2788920" y="39136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Outline encoder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041648" y="3904487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Permutation-invariant PointNet-lite over boundary samples; injected through DiT-style AdaLN-Zero.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097280" y="5074920"/>
            <a:ext cx="9966960" cy="603504"/>
          </a:xfrm>
          <a:prstGeom prst="roundRect">
            <a:avLst>
              <a:gd fmla="val 16667" name="adj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325880" y="5257800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Decoder: oriented rectangles -&gt; clip to outline -&gt; resolve overlaps -&gt; drop slivers -&gt; gap-fill, so union(rooms) == outline.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04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Token representation and architecture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model treats a plan as a set, not a sequence.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1619250"/>
            <a:ext cx="2857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One room token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19"/>
          <p:cNvGrpSpPr/>
          <p:nvPr/>
        </p:nvGrpSpPr>
        <p:grpSpPr>
          <a:xfrm>
            <a:off x="571500" y="2019300"/>
            <a:ext cx="5076900" cy="971700"/>
            <a:chOff x="571500" y="2019300"/>
            <a:chExt cx="5076900" cy="971700"/>
          </a:xfrm>
        </p:grpSpPr>
        <p:sp>
          <p:nvSpPr>
            <p:cNvPr id="188" name="Google Shape;188;p19"/>
            <p:cNvSpPr/>
            <p:nvPr/>
          </p:nvSpPr>
          <p:spPr>
            <a:xfrm>
              <a:off x="571500" y="2019300"/>
              <a:ext cx="1000200" cy="571500"/>
            </a:xfrm>
            <a:prstGeom prst="roundRect">
              <a:avLst>
                <a:gd fmla="val 16666" name="adj"/>
              </a:avLst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571500" y="2019300"/>
              <a:ext cx="1000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presence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685925" y="2019300"/>
              <a:ext cx="762000" cy="571500"/>
            </a:xfrm>
            <a:prstGeom prst="roundRect">
              <a:avLst>
                <a:gd fmla="val 16666" name="adj"/>
              </a:avLst>
            </a:prstGeom>
            <a:solidFill>
              <a:srgbClr val="3A8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685925" y="2019300"/>
              <a:ext cx="76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cx, cy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2562225" y="2019300"/>
              <a:ext cx="762000" cy="571500"/>
            </a:xfrm>
            <a:prstGeom prst="roundRect">
              <a:avLst>
                <a:gd fmla="val 16666" name="adj"/>
              </a:avLst>
            </a:prstGeom>
            <a:solidFill>
              <a:srgbClr val="3A8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2562225" y="2019300"/>
              <a:ext cx="76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w, h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3438525" y="2019300"/>
              <a:ext cx="1190700" cy="571500"/>
            </a:xfrm>
            <a:prstGeom prst="roundRect">
              <a:avLst>
                <a:gd fmla="val 16666" name="adj"/>
              </a:avLst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3438525" y="2019300"/>
              <a:ext cx="1190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sin2theta,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cos2theta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4743450" y="2019300"/>
              <a:ext cx="904800" cy="571500"/>
            </a:xfrm>
            <a:prstGeom prst="roundRect">
              <a:avLst>
                <a:gd fmla="val 16666" name="adj"/>
              </a:avLst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4743450" y="2019300"/>
              <a:ext cx="90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type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one-hot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571500" y="2705100"/>
              <a:ext cx="507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N_max tokens, standardized in the outline-bbox frame.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19"/>
          <p:cNvGrpSpPr/>
          <p:nvPr/>
        </p:nvGrpSpPr>
        <p:grpSpPr>
          <a:xfrm>
            <a:off x="571500" y="3238500"/>
            <a:ext cx="5076900" cy="1524000"/>
            <a:chOff x="571500" y="3238500"/>
            <a:chExt cx="5076900" cy="1524000"/>
          </a:xfrm>
        </p:grpSpPr>
        <p:sp>
          <p:nvSpPr>
            <p:cNvPr id="200" name="Google Shape;200;p19"/>
            <p:cNvSpPr/>
            <p:nvPr/>
          </p:nvSpPr>
          <p:spPr>
            <a:xfrm>
              <a:off x="571500" y="3238500"/>
              <a:ext cx="5076900" cy="1524000"/>
            </a:xfrm>
            <a:prstGeom prst="roundRect">
              <a:avLst>
                <a:gd fmla="val 10000" name="adj"/>
              </a:avLst>
            </a:prstGeom>
            <a:solidFill>
              <a:srgbClr val="FCEFEA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571500" y="3238500"/>
              <a:ext cx="57300" cy="1524000"/>
            </a:xfrm>
            <a:prstGeom prst="roundRect">
              <a:avLst>
                <a:gd fmla="val 50000" name="adj"/>
              </a:avLst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800100" y="3238500"/>
              <a:ext cx="4619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25F4C"/>
                  </a:solidFill>
                  <a:latin typeface="Arial"/>
                  <a:ea typeface="Arial"/>
                  <a:cs typeface="Arial"/>
                  <a:sym typeface="Arial"/>
                </a:rPr>
                <a:t>Why no positional encoding?</a:t>
              </a:r>
              <a:endParaRPr b="1" sz="1300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Room order is arbitrary. Full self-attention lets the model learn a joint, non-overlapping layout.</a:t>
              </a:r>
              <a:endParaRPr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6477000" y="1604144"/>
            <a:ext cx="5143500" cy="4095900"/>
            <a:chOff x="6477000" y="1619250"/>
            <a:chExt cx="5143500" cy="4095900"/>
          </a:xfrm>
        </p:grpSpPr>
        <p:sp>
          <p:nvSpPr>
            <p:cNvPr id="204" name="Google Shape;204;p19"/>
            <p:cNvSpPr/>
            <p:nvPr/>
          </p:nvSpPr>
          <p:spPr>
            <a:xfrm>
              <a:off x="6477000" y="1619250"/>
              <a:ext cx="5143500" cy="4095900"/>
            </a:xfrm>
            <a:prstGeom prst="roundRect">
              <a:avLst>
                <a:gd fmla="val 5581" name="adj"/>
              </a:avLst>
            </a:prstGeom>
            <a:solidFill>
              <a:srgbClr val="FFFFFF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6762750" y="1857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6762750" y="1857375"/>
              <a:ext cx="76200" cy="609600"/>
            </a:xfrm>
            <a:prstGeom prst="rect">
              <a:avLst/>
            </a:prstGeom>
            <a:solidFill>
              <a:srgbClr val="3A8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6991350" y="1857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Boundary samples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x, y, normal x, normal y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6762750" y="2619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6762750" y="2619375"/>
              <a:ext cx="76200" cy="609600"/>
            </a:xfrm>
            <a:prstGeom prst="rect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6991350" y="2619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Outline PointNet-lite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max + mean pooled outline code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6762750" y="3381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6762750" y="3381375"/>
              <a:ext cx="76200" cy="609600"/>
            </a:xfrm>
            <a:prstGeom prst="rect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6991350" y="3381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Set Transformer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full self-attention, no positional encoding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6762750" y="4143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6762750" y="4143375"/>
              <a:ext cx="76200" cy="609600"/>
            </a:xfrm>
            <a:prstGeom prst="rect">
              <a:avLst/>
            </a:prstGeom>
            <a:solidFill>
              <a:srgbClr val="7A519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6991350" y="4143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AdaLN-Zero conditioning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time + outline injected into blocks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6762750" y="4905375"/>
              <a:ext cx="4572000" cy="609600"/>
            </a:xfrm>
            <a:prstGeom prst="roundRect">
              <a:avLst>
                <a:gd fmla="val 12500" name="adj"/>
              </a:avLst>
            </a:prstGeom>
            <a:solidFill>
              <a:srgbClr val="F3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6762750" y="4905375"/>
              <a:ext cx="76200" cy="6096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6991350" y="4905375"/>
              <a:ext cx="4191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Token head</a:t>
              </a:r>
              <a:endParaRPr b="1" sz="11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presence, geometry, type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0" name="Google Shape;2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6" y="5014750"/>
            <a:ext cx="6524100" cy="12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05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DIAGNOSIS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Variance collapse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weak Coverage/Density numbers are not just bad news; they point to the objective.</a:t>
            </a:r>
            <a:endParaRPr/>
          </a:p>
        </p:txBody>
      </p:sp>
      <p:grpSp>
        <p:nvGrpSpPr>
          <p:cNvPr id="236" name="Google Shape;236;p20"/>
          <p:cNvGrpSpPr/>
          <p:nvPr/>
        </p:nvGrpSpPr>
        <p:grpSpPr>
          <a:xfrm>
            <a:off x="857250" y="1714500"/>
            <a:ext cx="10477650" cy="4038600"/>
            <a:chOff x="857250" y="1714500"/>
            <a:chExt cx="10477650" cy="4038600"/>
          </a:xfrm>
        </p:grpSpPr>
        <p:sp>
          <p:nvSpPr>
            <p:cNvPr id="237" name="Google Shape;237;p20"/>
            <p:cNvSpPr/>
            <p:nvPr/>
          </p:nvSpPr>
          <p:spPr>
            <a:xfrm>
              <a:off x="857250" y="1714500"/>
              <a:ext cx="2952900" cy="31434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14300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1047750" y="195262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Real conditional variety</a:t>
              </a:r>
              <a:endParaRPr b="1" sz="14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239" name="Google Shape;239;p20"/>
            <p:cNvGrpSpPr/>
            <p:nvPr/>
          </p:nvGrpSpPr>
          <p:grpSpPr>
            <a:xfrm>
              <a:off x="1143000" y="2381250"/>
              <a:ext cx="2076450" cy="2076450"/>
              <a:chOff x="1143000" y="2381250"/>
              <a:chExt cx="2076450" cy="2076450"/>
            </a:xfrm>
          </p:grpSpPr>
          <p:sp>
            <p:nvSpPr>
              <p:cNvPr id="240" name="Google Shape;240;p20"/>
              <p:cNvSpPr/>
              <p:nvPr/>
            </p:nvSpPr>
            <p:spPr>
              <a:xfrm>
                <a:off x="1333500" y="25717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0"/>
              <p:cNvSpPr/>
              <p:nvPr/>
            </p:nvSpPr>
            <p:spPr>
              <a:xfrm>
                <a:off x="1809750" y="2381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0"/>
              <p:cNvSpPr/>
              <p:nvPr/>
            </p:nvSpPr>
            <p:spPr>
              <a:xfrm>
                <a:off x="2381250" y="2667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3048000" y="2476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143000" y="3238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7A51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2000250" y="3143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2762250" y="3048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1524000" y="37147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2190750" y="3619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3143250" y="3524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7A519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38250" y="4286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905000" y="4381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2571750" y="4191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2952750" y="4286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4" name="Google Shape;254;p20"/>
            <p:cNvSpPr/>
            <p:nvPr/>
          </p:nvSpPr>
          <p:spPr>
            <a:xfrm>
              <a:off x="4048125" y="3143250"/>
              <a:ext cx="333300" cy="285900"/>
            </a:xfrm>
            <a:custGeom>
              <a:rect b="b" l="l" r="r" t="t"/>
              <a:pathLst>
                <a:path extrusionOk="0" h="120000" w="120000">
                  <a:moveTo>
                    <a:pt x="0" y="40000"/>
                  </a:moveTo>
                  <a:lnTo>
                    <a:pt x="68571" y="40000"/>
                  </a:lnTo>
                  <a:lnTo>
                    <a:pt x="68571" y="0"/>
                  </a:lnTo>
                  <a:lnTo>
                    <a:pt x="120000" y="60000"/>
                  </a:lnTo>
                  <a:lnTo>
                    <a:pt x="68571" y="120000"/>
                  </a:lnTo>
                  <a:lnTo>
                    <a:pt x="68571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4619625" y="1714500"/>
              <a:ext cx="2952900" cy="3143400"/>
            </a:xfrm>
            <a:prstGeom prst="roundRect">
              <a:avLst>
                <a:gd fmla="val 5161" name="adj"/>
              </a:avLst>
            </a:pr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20"/>
            <p:cNvGrpSpPr/>
            <p:nvPr/>
          </p:nvGrpSpPr>
          <p:grpSpPr>
            <a:xfrm>
              <a:off x="4810125" y="1952625"/>
              <a:ext cx="2571900" cy="2476650"/>
              <a:chOff x="0" y="0"/>
              <a:chExt cx="2571900" cy="2476650"/>
            </a:xfrm>
          </p:grpSpPr>
          <p:sp>
            <p:nvSpPr>
              <p:cNvPr id="257" name="Google Shape;257;p20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L2 objective</a:t>
                </a:r>
                <a:endParaRPr b="1" sz="110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0"/>
              <p:cNvSpPr txBox="1"/>
              <p:nvPr/>
            </p:nvSpPr>
            <p:spPr>
              <a:xfrm>
                <a:off x="0" y="428625"/>
                <a:ext cx="2571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predicts the</a:t>
                </a:r>
                <a:b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</a:br>
                <a: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conditional</a:t>
                </a:r>
                <a:b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</a:br>
                <a:r>
                  <a:rPr b="1" lang="en-US" sz="2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mean</a:t>
                </a:r>
                <a:endParaRPr b="1" sz="2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259" name="Google Shape;259;p20"/>
              <p:cNvSpPr txBox="1"/>
              <p:nvPr/>
            </p:nvSpPr>
            <p:spPr>
              <a:xfrm>
                <a:off x="0" y="2000250"/>
                <a:ext cx="2571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B7C3C0"/>
                    </a:solidFill>
                    <a:latin typeface="Arial"/>
                    <a:ea typeface="Arial"/>
                    <a:cs typeface="Arial"/>
                    <a:sym typeface="Arial"/>
                  </a:rPr>
                  <a:t>one plausible-looking</a:t>
                </a:r>
                <a:br>
                  <a:rPr b="0" lang="en-US" sz="1100">
                    <a:solidFill>
                      <a:srgbClr val="B7C3C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lang="en-US" sz="1100">
                    <a:solidFill>
                      <a:srgbClr val="B7C3C0"/>
                    </a:solidFill>
                    <a:latin typeface="Arial"/>
                    <a:ea typeface="Arial"/>
                    <a:cs typeface="Arial"/>
                    <a:sym typeface="Arial"/>
                  </a:rPr>
                  <a:t>average path</a:t>
                </a:r>
                <a:endParaRPr b="0" sz="1100">
                  <a:solidFill>
                    <a:srgbClr val="B7C3C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20"/>
            <p:cNvSpPr/>
            <p:nvPr/>
          </p:nvSpPr>
          <p:spPr>
            <a:xfrm>
              <a:off x="7810500" y="3143250"/>
              <a:ext cx="333300" cy="285900"/>
            </a:xfrm>
            <a:custGeom>
              <a:rect b="b" l="l" r="r" t="t"/>
              <a:pathLst>
                <a:path extrusionOk="0" h="120000" w="120000">
                  <a:moveTo>
                    <a:pt x="0" y="40000"/>
                  </a:moveTo>
                  <a:lnTo>
                    <a:pt x="68571" y="40000"/>
                  </a:lnTo>
                  <a:lnTo>
                    <a:pt x="68571" y="0"/>
                  </a:lnTo>
                  <a:lnTo>
                    <a:pt x="120000" y="60000"/>
                  </a:lnTo>
                  <a:lnTo>
                    <a:pt x="68571" y="120000"/>
                  </a:lnTo>
                  <a:lnTo>
                    <a:pt x="68571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8382000" y="1714500"/>
              <a:ext cx="2952900" cy="31434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14300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8572500" y="195262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Generated support</a:t>
              </a:r>
              <a:endParaRPr b="1" sz="14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263" name="Google Shape;263;p20"/>
            <p:cNvGrpSpPr/>
            <p:nvPr/>
          </p:nvGrpSpPr>
          <p:grpSpPr>
            <a:xfrm>
              <a:off x="9715500" y="3048000"/>
              <a:ext cx="314325" cy="476250"/>
              <a:chOff x="9715500" y="3048000"/>
              <a:chExt cx="314325" cy="476250"/>
            </a:xfrm>
          </p:grpSpPr>
          <p:sp>
            <p:nvSpPr>
              <p:cNvPr id="264" name="Google Shape;264;p20"/>
              <p:cNvSpPr/>
              <p:nvPr/>
            </p:nvSpPr>
            <p:spPr>
              <a:xfrm>
                <a:off x="9763125" y="3095625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>
                <a:off x="9858375" y="30480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0"/>
              <p:cNvSpPr/>
              <p:nvPr/>
            </p:nvSpPr>
            <p:spPr>
              <a:xfrm>
                <a:off x="9715500" y="3190875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0"/>
              <p:cNvSpPr/>
              <p:nvPr/>
            </p:nvSpPr>
            <p:spPr>
              <a:xfrm>
                <a:off x="9906000" y="31432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/>
              <p:nvPr/>
            </p:nvSpPr>
            <p:spPr>
              <a:xfrm>
                <a:off x="9810750" y="32385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0"/>
              <p:cNvSpPr/>
              <p:nvPr/>
            </p:nvSpPr>
            <p:spPr>
              <a:xfrm>
                <a:off x="9953625" y="32194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0"/>
              <p:cNvSpPr/>
              <p:nvPr/>
            </p:nvSpPr>
            <p:spPr>
              <a:xfrm>
                <a:off x="9763125" y="33337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0"/>
              <p:cNvSpPr/>
              <p:nvPr/>
            </p:nvSpPr>
            <p:spPr>
              <a:xfrm>
                <a:off x="9886950" y="331470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0"/>
              <p:cNvSpPr/>
              <p:nvPr/>
            </p:nvSpPr>
            <p:spPr>
              <a:xfrm>
                <a:off x="9829800" y="34099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0"/>
              <p:cNvSpPr/>
              <p:nvPr/>
            </p:nvSpPr>
            <p:spPr>
              <a:xfrm>
                <a:off x="9925050" y="3448050"/>
                <a:ext cx="76200" cy="76200"/>
              </a:xfrm>
              <a:prstGeom prst="roundRect">
                <a:avLst>
                  <a:gd fmla="val 25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4" name="Google Shape;274;p20"/>
            <p:cNvSpPr/>
            <p:nvPr/>
          </p:nvSpPr>
          <p:spPr>
            <a:xfrm>
              <a:off x="857250" y="5143500"/>
              <a:ext cx="10477500" cy="609600"/>
            </a:xfrm>
            <a:prstGeom prst="roundRect">
              <a:avLst>
                <a:gd fmla="val 18750" name="adj"/>
              </a:avLst>
            </a:prstGeom>
            <a:solidFill>
              <a:srgbClr val="E7F6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 txBox="1"/>
            <p:nvPr/>
          </p:nvSpPr>
          <p:spPr>
            <a:xfrm>
              <a:off x="1047750" y="5143500"/>
              <a:ext cx="10096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rPr>
                <a:t>Evidence:</a:t>
              </a:r>
              <a:r>
                <a:rPr lang="en-US" sz="13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generated room-count std +/-6 vs real +/-24; baseline Coverage 0.067.</a:t>
              </a:r>
              <a:endParaRPr sz="13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06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Three levers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metric gaps motivate the experiments: FID asks for cleaner geometry; Coverage asks for stochastic diversity.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658368" y="1691640"/>
            <a:ext cx="3401568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658368" y="1691640"/>
            <a:ext cx="3401568" cy="1463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859536" y="1993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1371600" y="20025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Grid-align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1408176" y="245059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Targets FID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1005840" y="2907792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Snap room edges to the building axes, then re-partition.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1161288" y="4096512"/>
            <a:ext cx="2395728" cy="384048"/>
          </a:xfrm>
          <a:prstGeom prst="roundRect">
            <a:avLst>
              <a:gd fmla="val 16667" name="adj"/>
            </a:avLst>
          </a:prstGeom>
          <a:solidFill>
            <a:srgbClr val="F2F4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225295" y="4197096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FID 167 -&gt; 131.5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4334255" y="1691640"/>
            <a:ext cx="3401568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334255" y="1691640"/>
            <a:ext cx="3401568" cy="1463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535423" y="1993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5047488" y="20025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Churn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5084064" y="245059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Targets Coverage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4681727" y="2907792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Inject time-scaled noise during sampling to leave the mean trajectory.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837175" y="4096512"/>
            <a:ext cx="2395728" cy="384048"/>
          </a:xfrm>
          <a:prstGeom prst="roundRect">
            <a:avLst>
              <a:gd fmla="val 16667" name="adj"/>
            </a:avLst>
          </a:prstGeom>
          <a:solidFill>
            <a:srgbClr val="F2F4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901183" y="4197096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rPr>
              <a:t>Coverage 0.098 -&gt; 0.111</a:t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8010143" y="1691640"/>
            <a:ext cx="3401568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8010143" y="1691640"/>
            <a:ext cx="3401568" cy="1463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8211311" y="1993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B134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8723375" y="200253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EBM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8759951" y="245059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Targets Density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8357615" y="2907792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Critic helps on some runs, but gains wash out under multi-seed.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8513063" y="4096512"/>
            <a:ext cx="2395728" cy="384048"/>
          </a:xfrm>
          <a:prstGeom prst="roundRect">
            <a:avLst>
              <a:gd fmla="val 16667" name="adj"/>
            </a:avLst>
          </a:prstGeom>
          <a:solidFill>
            <a:srgbClr val="F2F4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8577071" y="4197096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Option, not default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1572768" y="5413248"/>
            <a:ext cx="9052560" cy="438912"/>
          </a:xfrm>
          <a:prstGeom prst="roundRect">
            <a:avLst>
              <a:gd fmla="val 16667" name="adj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1783080" y="5541264"/>
            <a:ext cx="8641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default = full plan_id flow model + grid-align g16 + churn 0.3 + count-calibrated threshold.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07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Final results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corrected headline: final grid-align + churn configuration, not the old subset story.</a:t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685800" y="1664208"/>
            <a:ext cx="2254910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713232" y="1700784"/>
            <a:ext cx="2200046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2940710" y="1664208"/>
            <a:ext cx="1252728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2968142" y="1700784"/>
            <a:ext cx="1197864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FID down</a:t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4193438" y="1664208"/>
            <a:ext cx="1378000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220870" y="1700784"/>
            <a:ext cx="1323136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Density up</a:t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5571439" y="1664208"/>
            <a:ext cx="1378000" cy="534924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5598871" y="1700784"/>
            <a:ext cx="1323136" cy="4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Coverage up</a:t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685800" y="2199132"/>
            <a:ext cx="225491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722376" y="2240280"/>
            <a:ext cx="218175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2940710" y="2199132"/>
            <a:ext cx="1252728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2977286" y="2240280"/>
            <a:ext cx="1179576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167</a:t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4193438" y="2199132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4230014" y="2240280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0.097</a:t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5571439" y="2199132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5608015" y="2240280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0.067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685800" y="2734056"/>
            <a:ext cx="225491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722376" y="2775204"/>
            <a:ext cx="218175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+ grid-align</a:t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2940710" y="2734056"/>
            <a:ext cx="1252728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2977286" y="2775204"/>
            <a:ext cx="1179576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131.5</a:t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4193438" y="2734056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230014" y="2775204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0.091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5571439" y="2734056"/>
            <a:ext cx="1378000" cy="5349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5608015" y="2775204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0.098</a:t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685800" y="3268980"/>
            <a:ext cx="2254910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722376" y="3310128"/>
            <a:ext cx="218175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Final + churn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2940710" y="3268980"/>
            <a:ext cx="1252728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2977286" y="3310128"/>
            <a:ext cx="1179576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135.3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4193438" y="3268980"/>
            <a:ext cx="1378000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4230014" y="3310128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0.088</a:t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5571439" y="3268980"/>
            <a:ext cx="1378000" cy="534924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608015" y="3310128"/>
            <a:ext cx="1304848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0.111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7360920" y="1691640"/>
            <a:ext cx="17830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7498080" y="180136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REALISM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7470648" y="2075688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-19%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7498080" y="258775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FID vs baseline</a:t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9464040" y="1691640"/>
            <a:ext cx="17830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9601200" y="180136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DIVERSITY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9573767" y="2075688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+66%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9601200" y="258775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Coverage vs baseline</a:t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749808" y="4251960"/>
            <a:ext cx="598932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960120" y="44988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FID</a:t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2286000" y="4526280"/>
            <a:ext cx="2651759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2286000" y="4526280"/>
            <a:ext cx="2460243" cy="201168"/>
          </a:xfrm>
          <a:prstGeom prst="roundRect">
            <a:avLst>
              <a:gd fmla="val 16667" name="adj"/>
            </a:avLst>
          </a:prstGeom>
          <a:solidFill>
            <a:srgbClr val="AEB6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4983479" y="449427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167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960120" y="48828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2286000" y="4910328"/>
            <a:ext cx="2651759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2286000" y="4910328"/>
            <a:ext cx="1993239" cy="201168"/>
          </a:xfrm>
          <a:prstGeom prst="roundRect">
            <a:avLst>
              <a:gd fmla="val 16667" name="adj"/>
            </a:avLst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4983479" y="487832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135.3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7269480" y="44988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8595360" y="4526280"/>
            <a:ext cx="2286000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595360" y="4526280"/>
            <a:ext cx="1178169" cy="201168"/>
          </a:xfrm>
          <a:prstGeom prst="roundRect">
            <a:avLst>
              <a:gd fmla="val 16667" name="adj"/>
            </a:avLst>
          </a:prstGeom>
          <a:solidFill>
            <a:srgbClr val="AEB6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10927080" y="449427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0.067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7269480" y="48828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8595360" y="4910328"/>
            <a:ext cx="2286000" cy="201168"/>
          </a:xfrm>
          <a:prstGeom prst="roundRect">
            <a:avLst>
              <a:gd fmla="val 16667" name="adj"/>
            </a:avLst>
          </a:prstGeom>
          <a:solidFill>
            <a:srgbClr val="E9EC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8595360" y="4910328"/>
            <a:ext cx="1951892" cy="201168"/>
          </a:xfrm>
          <a:prstGeom prst="roundRect">
            <a:avLst>
              <a:gd fmla="val 16667" name="adj"/>
            </a:avLst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10927080" y="487832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0.111</a:t>
            </a:r>
            <a:endParaRPr/>
          </a:p>
        </p:txBody>
      </p:sp>
      <p:sp>
        <p:nvSpPr>
          <p:cNvPr id="389" name="Google Shape;389;p22"/>
          <p:cNvSpPr txBox="1"/>
          <p:nvPr/>
        </p:nvSpPr>
        <p:spPr>
          <a:xfrm>
            <a:off x="1828800" y="574243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Grid-align cleans geometry; churn buys support recall with a small FID cost.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08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Comparison with DDPM / EBM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All three paradigms were tested; the simple flow + churn recipe held up best.</a:t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713232" y="1645920"/>
            <a:ext cx="3662354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740664" y="1682496"/>
            <a:ext cx="3607490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Paradigm</a:t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4375586" y="1645920"/>
            <a:ext cx="1292595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4403018" y="1682496"/>
            <a:ext cx="1237731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FID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5668182" y="1645920"/>
            <a:ext cx="1615744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5695614" y="1682496"/>
            <a:ext cx="1560880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Density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7283927" y="1645920"/>
            <a:ext cx="1723461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7311359" y="1682496"/>
            <a:ext cx="1668597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9007388" y="1645920"/>
            <a:ext cx="2477475" cy="582930"/>
          </a:xfrm>
          <a:prstGeom prst="rect">
            <a:avLst/>
          </a:prstGeom>
          <a:solidFill>
            <a:srgbClr val="15212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9034820" y="1682496"/>
            <a:ext cx="2422611" cy="51892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Readout</a:t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713232" y="2228850"/>
            <a:ext cx="3662354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749808" y="2269998"/>
            <a:ext cx="358920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Flow + grid + churn0.3</a:t>
            </a:r>
            <a:endParaRPr/>
          </a:p>
        </p:txBody>
      </p:sp>
      <p:sp>
        <p:nvSpPr>
          <p:cNvPr id="417" name="Google Shape;417;p23"/>
          <p:cNvSpPr/>
          <p:nvPr/>
        </p:nvSpPr>
        <p:spPr>
          <a:xfrm>
            <a:off x="4375586" y="2228850"/>
            <a:ext cx="1292595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4412162" y="2269998"/>
            <a:ext cx="121944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135.3</a:t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5668182" y="2228850"/>
            <a:ext cx="1615744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5704758" y="2269998"/>
            <a:ext cx="154259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0.088</a:t>
            </a: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7283927" y="2228850"/>
            <a:ext cx="1723461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320503" y="2269998"/>
            <a:ext cx="1650309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0.111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9007388" y="2228850"/>
            <a:ext cx="2477475" cy="582930"/>
          </a:xfrm>
          <a:prstGeom prst="rect">
            <a:avLst/>
          </a:prstGeom>
          <a:solidFill>
            <a:srgbClr val="E8F6F2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9043964" y="2269998"/>
            <a:ext cx="240432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best coverage</a:t>
            </a: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713232" y="2811780"/>
            <a:ext cx="366235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49808" y="2852928"/>
            <a:ext cx="358920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DDPM</a:t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4375586" y="2811780"/>
            <a:ext cx="129259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4412162" y="2852928"/>
            <a:ext cx="121944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137.2</a:t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5668182" y="2811780"/>
            <a:ext cx="161574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5704758" y="2852928"/>
            <a:ext cx="154259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0.068</a:t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7283927" y="2811780"/>
            <a:ext cx="1723461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320503" y="2852928"/>
            <a:ext cx="1650309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0.090</a:t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9007388" y="2811780"/>
            <a:ext cx="247747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9043964" y="2852928"/>
            <a:ext cx="240432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worse on all three</a:t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713232" y="3394710"/>
            <a:ext cx="366235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 txBox="1"/>
          <p:nvPr/>
        </p:nvSpPr>
        <p:spPr>
          <a:xfrm>
            <a:off x="749808" y="3435858"/>
            <a:ext cx="358920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Flow + EBM guidance</a:t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4375586" y="3394710"/>
            <a:ext cx="129259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4412162" y="3435858"/>
            <a:ext cx="121944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136.1</a:t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5668182" y="3394710"/>
            <a:ext cx="1615744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 txBox="1"/>
          <p:nvPr/>
        </p:nvSpPr>
        <p:spPr>
          <a:xfrm>
            <a:off x="5704758" y="3435858"/>
            <a:ext cx="1542592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0.091</a:t>
            </a: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7283927" y="3394710"/>
            <a:ext cx="1723461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 txBox="1"/>
          <p:nvPr/>
        </p:nvSpPr>
        <p:spPr>
          <a:xfrm>
            <a:off x="7320503" y="3435858"/>
            <a:ext cx="1650309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0.103</a:t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007388" y="3394710"/>
            <a:ext cx="2477475" cy="5829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 txBox="1"/>
          <p:nvPr/>
        </p:nvSpPr>
        <p:spPr>
          <a:xfrm>
            <a:off x="9043964" y="3435858"/>
            <a:ext cx="2404323" cy="50977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marginal</a:t>
            </a: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932688" y="4617720"/>
            <a:ext cx="4800600" cy="786384"/>
          </a:xfrm>
          <a:prstGeom prst="roundRect">
            <a:avLst>
              <a:gd fmla="val 16667" name="adj"/>
            </a:avLst>
          </a:prstGeom>
          <a:solidFill>
            <a:srgbClr val="FCEFEA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1170432" y="4855464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DDPM inherits the same MSE mean-regression ceiling in this setup.</a:t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6419088" y="4617720"/>
            <a:ext cx="4553712" cy="786384"/>
          </a:xfrm>
          <a:prstGeom prst="roundRect">
            <a:avLst>
              <a:gd fmla="val 16667" name="adj"/>
            </a:avLst>
          </a:prstGeom>
          <a:solidFill>
            <a:srgbClr val="FFF6D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6656832" y="485546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EBM remains a useful option, but not the final default.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09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HONESTY</a:t>
            </a:r>
            <a:endParaRPr/>
          </a:p>
        </p:txBody>
      </p:sp>
      <p:sp>
        <p:nvSpPr>
          <p:cNvPr id="462" name="Google Shape;462;p24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Limitations and honesty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We frame the weaker metrics as evidence: diagnosis, targeted levers, and honest comparisons.</a:t>
            </a:r>
            <a:endParaRPr/>
          </a:p>
        </p:txBody>
      </p:sp>
      <p:grpSp>
        <p:nvGrpSpPr>
          <p:cNvPr id="464" name="Google Shape;464;p24"/>
          <p:cNvGrpSpPr/>
          <p:nvPr/>
        </p:nvGrpSpPr>
        <p:grpSpPr>
          <a:xfrm>
            <a:off x="762000" y="1714500"/>
            <a:ext cx="10668000" cy="3333750"/>
            <a:chOff x="762000" y="1714500"/>
            <a:chExt cx="10668000" cy="3333750"/>
          </a:xfrm>
        </p:grpSpPr>
        <p:sp>
          <p:nvSpPr>
            <p:cNvPr id="465" name="Google Shape;465;p24"/>
            <p:cNvSpPr/>
            <p:nvPr/>
          </p:nvSpPr>
          <p:spPr>
            <a:xfrm>
              <a:off x="762000" y="171450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876300" y="1866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4"/>
            <p:cNvSpPr txBox="1"/>
            <p:nvPr/>
          </p:nvSpPr>
          <p:spPr>
            <a:xfrm>
              <a:off x="1095375" y="1901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9F8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2400">
                <a:solidFill>
                  <a:srgbClr val="009F8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8" name="Google Shape;468;p24"/>
            <p:cNvSpPr txBox="1"/>
            <p:nvPr/>
          </p:nvSpPr>
          <p:spPr>
            <a:xfrm>
              <a:off x="1571625" y="1866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Density/Coverage are still low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9" name="Google Shape;469;p24"/>
            <p:cNvSpPr txBox="1"/>
            <p:nvPr/>
          </p:nvSpPr>
          <p:spPr>
            <a:xfrm>
              <a:off x="1571625" y="2247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Ideal is 1.0; final Coverage 0.111 means support is still limited.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6286500" y="171450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6400800" y="1866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4"/>
            <p:cNvSpPr txBox="1"/>
            <p:nvPr/>
          </p:nvSpPr>
          <p:spPr>
            <a:xfrm>
              <a:off x="6619875" y="1901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25F4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rule</a:t>
              </a:r>
              <a:endParaRPr sz="2400">
                <a:solidFill>
                  <a:srgbClr val="F25F4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3" name="Google Shape;473;p24"/>
            <p:cNvSpPr txBox="1"/>
            <p:nvPr/>
          </p:nvSpPr>
          <p:spPr>
            <a:xfrm>
              <a:off x="7096125" y="1866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Self-reported metric protocol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4" name="Google Shape;474;p24"/>
            <p:cNvSpPr txBox="1"/>
            <p:nvPr/>
          </p:nvSpPr>
          <p:spPr>
            <a:xfrm>
              <a:off x="7096125" y="2247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Numbers depend on the repo render/eval harness, not an external official run.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762000" y="352425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876300" y="3771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4"/>
            <p:cNvSpPr txBox="1"/>
            <p:nvPr/>
          </p:nvSpPr>
          <p:spPr>
            <a:xfrm>
              <a:off x="1095375" y="3806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2B13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grid_on</a:t>
              </a:r>
              <a:endParaRPr sz="2400">
                <a:solidFill>
                  <a:srgbClr val="F2B13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8" name="Google Shape;478;p24"/>
            <p:cNvSpPr txBox="1"/>
            <p:nvPr/>
          </p:nvSpPr>
          <p:spPr>
            <a:xfrm>
              <a:off x="1571625" y="3771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Post-processing matters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9" name="Google Shape;479;p24"/>
            <p:cNvSpPr txBox="1"/>
            <p:nvPr/>
          </p:nvSpPr>
          <p:spPr>
            <a:xfrm>
              <a:off x="1571625" y="4152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Grid-align is a deterministic geometry layer, not a learned fix.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6286500" y="3524250"/>
              <a:ext cx="51435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6400800" y="3771900"/>
              <a:ext cx="57300" cy="1219200"/>
            </a:xfrm>
            <a:prstGeom prst="roundRect">
              <a:avLst>
                <a:gd fmla="val 50000" name="adj"/>
              </a:avLst>
            </a:prstGeom>
            <a:solidFill>
              <a:srgbClr val="7A519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4"/>
            <p:cNvSpPr txBox="1"/>
            <p:nvPr/>
          </p:nvSpPr>
          <p:spPr>
            <a:xfrm>
              <a:off x="6619875" y="38069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A519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7A519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3" name="Google Shape;483;p24"/>
            <p:cNvSpPr txBox="1"/>
            <p:nvPr/>
          </p:nvSpPr>
          <p:spPr>
            <a:xfrm>
              <a:off x="7096125" y="3771900"/>
              <a:ext cx="414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EBM is not headline</a:t>
              </a:r>
              <a:endParaRPr b="1" sz="15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84" name="Google Shape;484;p24"/>
            <p:cNvSpPr txBox="1"/>
            <p:nvPr/>
          </p:nvSpPr>
          <p:spPr>
            <a:xfrm>
              <a:off x="7096125" y="4152900"/>
              <a:ext cx="41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Single-run gains can wash out under multi-seed averaging.</a:t>
              </a:r>
              <a:endParaRPr sz="12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24"/>
          <p:cNvGrpSpPr/>
          <p:nvPr/>
        </p:nvGrpSpPr>
        <p:grpSpPr>
          <a:xfrm>
            <a:off x="1333500" y="5381625"/>
            <a:ext cx="9525000" cy="666900"/>
            <a:chOff x="1333500" y="5381625"/>
            <a:chExt cx="9525000" cy="666900"/>
          </a:xfrm>
        </p:grpSpPr>
        <p:sp>
          <p:nvSpPr>
            <p:cNvPr id="486" name="Google Shape;486;p24"/>
            <p:cNvSpPr/>
            <p:nvPr/>
          </p:nvSpPr>
          <p:spPr>
            <a:xfrm>
              <a:off x="1333500" y="5381625"/>
              <a:ext cx="9525000" cy="666900"/>
            </a:xfrm>
            <a:prstGeom prst="roundRect">
              <a:avLst>
                <a:gd fmla="val 50000" name="adj"/>
              </a:avLst>
            </a:pr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4"/>
            <p:cNvSpPr txBox="1"/>
            <p:nvPr/>
          </p:nvSpPr>
          <p:spPr>
            <a:xfrm>
              <a:off x="1714500" y="5381625"/>
              <a:ext cx="8763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</a:t>
              </a: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tch framing: not 'we solved floor plans,' but </a:t>
              </a: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'we found why the baseline fails and what reliably moves it.'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10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Final takeaway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 weak metric matrix became a research map.</a:t>
            </a:r>
            <a:endParaRPr/>
          </a:p>
        </p:txBody>
      </p:sp>
      <p:sp>
        <p:nvSpPr>
          <p:cNvPr id="503" name="Google Shape;503;p25"/>
          <p:cNvSpPr txBox="1"/>
          <p:nvPr/>
        </p:nvSpPr>
        <p:spPr>
          <a:xfrm>
            <a:off x="609600" y="1571625"/>
            <a:ext cx="10972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OutlineFlow generates typed vector room polygons from only an outline.</a:t>
            </a:r>
            <a:endParaRPr b="1" sz="20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609600" y="2333625"/>
            <a:ext cx="3429000" cy="17622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609600" y="233362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009F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838200" y="2619375"/>
            <a:ext cx="2971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Research insight</a:t>
            </a:r>
            <a:endParaRPr b="1" sz="1100">
              <a:solidFill>
                <a:srgbClr val="009F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838200" y="2952750"/>
            <a:ext cx="2971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L2 flow matching collapses toward average layouts.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4381500" y="2333625"/>
            <a:ext cx="3429000" cy="17622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4381500" y="233362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5F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 txBox="1"/>
          <p:nvPr/>
        </p:nvSpPr>
        <p:spPr>
          <a:xfrm>
            <a:off x="4610100" y="2619375"/>
            <a:ext cx="2971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rPr>
              <a:t>Practical fix</a:t>
            </a:r>
            <a:endParaRPr b="1" sz="1100">
              <a:solidFill>
                <a:srgbClr val="F25F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"/>
          <p:cNvSpPr txBox="1"/>
          <p:nvPr/>
        </p:nvSpPr>
        <p:spPr>
          <a:xfrm>
            <a:off x="4610100" y="2952750"/>
            <a:ext cx="2971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Grid-align for geometry; churn for diversity.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8153400" y="2333625"/>
            <a:ext cx="3429000" cy="17622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8153400" y="233362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B1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 txBox="1"/>
          <p:nvPr/>
        </p:nvSpPr>
        <p:spPr>
          <a:xfrm>
            <a:off x="8382000" y="2619375"/>
            <a:ext cx="2971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 b="1" sz="1100">
              <a:solidFill>
                <a:srgbClr val="F2B1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8382000" y="2952750"/>
            <a:ext cx="2971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FID 135.3 / Density 0.088 / Coverage 0.111.</a:t>
            </a:r>
            <a:endParaRPr b="1" sz="1400">
              <a:solidFill>
                <a:srgbClr val="1521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2286000" y="4429125"/>
            <a:ext cx="7620000" cy="1428900"/>
          </a:xfrm>
          <a:prstGeom prst="roundRect">
            <a:avLst>
              <a:gd fmla="val 8000" name="adj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25"/>
          <p:cNvGrpSpPr/>
          <p:nvPr/>
        </p:nvGrpSpPr>
        <p:grpSpPr>
          <a:xfrm>
            <a:off x="2476500" y="4572000"/>
            <a:ext cx="400200" cy="95400"/>
            <a:chOff x="2476500" y="4572000"/>
            <a:chExt cx="400200" cy="95400"/>
          </a:xfrm>
        </p:grpSpPr>
        <p:sp>
          <p:nvSpPr>
            <p:cNvPr id="518" name="Google Shape;518;p25"/>
            <p:cNvSpPr/>
            <p:nvPr/>
          </p:nvSpPr>
          <p:spPr>
            <a:xfrm>
              <a:off x="2476500" y="457200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5"/>
            <p:cNvSpPr/>
            <p:nvPr/>
          </p:nvSpPr>
          <p:spPr>
            <a:xfrm>
              <a:off x="2628900" y="457200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2781300" y="457200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1" name="Google Shape;521;p25"/>
          <p:cNvSpPr txBox="1"/>
          <p:nvPr/>
        </p:nvSpPr>
        <p:spPr>
          <a:xfrm>
            <a:off x="2476500" y="4857750"/>
            <a:ext cx="723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25F4C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-US" sz="11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rPr>
              <a:t> generate </a:t>
            </a:r>
            <a:r>
              <a:rPr b="1" lang="en-US" sz="1150">
                <a:solidFill>
                  <a:srgbClr val="F25F4C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1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rPr>
              <a:t> generate</a:t>
            </a:r>
            <a:endParaRPr sz="1150">
              <a:solidFill>
                <a:srgbClr val="EAF1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rPr>
              <a:t>rooms = generate(outline)</a:t>
            </a:r>
            <a:endParaRPr sz="1150">
              <a:solidFill>
                <a:srgbClr val="EAF1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6636E"/>
                </a:solidFill>
                <a:latin typeface="Consolas"/>
                <a:ea typeface="Consolas"/>
                <a:cs typeface="Consolas"/>
                <a:sym typeface="Consolas"/>
              </a:rPr>
              <a:t># [(shapely Polygon, room_type_id), ...]</a:t>
            </a:r>
            <a:endParaRPr sz="1150">
              <a:solidFill>
                <a:srgbClr val="56636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6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6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11</a:t>
            </a:r>
            <a:endParaRPr/>
          </a:p>
        </p:txBody>
      </p:sp>
      <p:sp>
        <p:nvSpPr>
          <p:cNvPr id="532" name="Google Shape;532;p26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35" name="Google Shape;535;p26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Metrics definitions</a:t>
            </a:r>
            <a:endParaRPr/>
          </a:p>
        </p:txBody>
      </p:sp>
      <p:sp>
        <p:nvSpPr>
          <p:cNvPr id="536" name="Google Shape;536;p26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Three scores, one rendered image space.</a:t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609600" y="1857375"/>
            <a:ext cx="342900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6"/>
          <p:cNvSpPr/>
          <p:nvPr/>
        </p:nvSpPr>
        <p:spPr>
          <a:xfrm>
            <a:off x="609600" y="185737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009F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800100" y="2000250"/>
            <a:ext cx="3048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9F8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FID</a:t>
            </a:r>
            <a:endParaRPr b="1" sz="22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Distance between real and generated Inception feature distributions. Lower is better.</a:t>
            </a:r>
            <a:endParaRPr b="0" sz="11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4381500" y="1857375"/>
            <a:ext cx="342900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>
            <a:off x="4381500" y="185737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5F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"/>
          <p:cNvSpPr txBox="1"/>
          <p:nvPr/>
        </p:nvSpPr>
        <p:spPr>
          <a:xfrm>
            <a:off x="4572000" y="2000250"/>
            <a:ext cx="3048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25F4C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grain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Density</a:t>
            </a:r>
            <a:endParaRPr b="1" sz="22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How often generated samples land inside local real neighborhoods. Higher is better.</a:t>
            </a:r>
            <a:endParaRPr b="0" sz="11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6"/>
          <p:cNvSpPr/>
          <p:nvPr/>
        </p:nvSpPr>
        <p:spPr>
          <a:xfrm>
            <a:off x="8153400" y="1857375"/>
            <a:ext cx="342900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6"/>
          <p:cNvSpPr/>
          <p:nvPr/>
        </p:nvSpPr>
        <p:spPr>
          <a:xfrm>
            <a:off x="8153400" y="1857375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2B1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6"/>
          <p:cNvSpPr txBox="1"/>
          <p:nvPr/>
        </p:nvSpPr>
        <p:spPr>
          <a:xfrm>
            <a:off x="8343900" y="2000250"/>
            <a:ext cx="3048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2B13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track_changes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Coverage</a:t>
            </a:r>
            <a:endParaRPr b="1" sz="22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How much of the real distribution is reached by generated samples. Higher is better.</a:t>
            </a:r>
            <a:endParaRPr b="0" sz="115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1333500" y="4762500"/>
            <a:ext cx="9525000" cy="723900"/>
          </a:xfrm>
          <a:prstGeom prst="roundRect">
            <a:avLst>
              <a:gd fmla="val 50000" name="adj"/>
            </a:avLst>
          </a:prstGeom>
          <a:solidFill>
            <a:srgbClr val="1521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 txBox="1"/>
          <p:nvPr/>
        </p:nvSpPr>
        <p:spPr>
          <a:xfrm>
            <a:off x="1714500" y="4762500"/>
            <a:ext cx="8763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judging tension: clean, realistic layouts can still fail if they cover only one average mode.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12</a:t>
            </a:r>
            <a:endParaRPr/>
          </a:p>
        </p:txBody>
      </p:sp>
      <p:sp>
        <p:nvSpPr>
          <p:cNvPr id="558" name="Google Shape;558;p27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7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61" name="Google Shape;561;p27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FID implementation</a:t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repo uses the same renderer for real and generated plans.</a:t>
            </a: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777240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777240" y="1965960"/>
            <a:ext cx="2148840" cy="128016"/>
          </a:xfrm>
          <a:prstGeom prst="rect">
            <a:avLst/>
          </a:prstGeom>
          <a:solidFill>
            <a:srgbClr val="3A8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7"/>
          <p:cNvSpPr txBox="1"/>
          <p:nvPr/>
        </p:nvSpPr>
        <p:spPr>
          <a:xfrm>
            <a:off x="941832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real + generated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vector polygons</a:t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3063240" y="2331720"/>
            <a:ext cx="566928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3566160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3566160" y="1965960"/>
            <a:ext cx="2148840" cy="128016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7"/>
          <p:cNvSpPr txBox="1"/>
          <p:nvPr/>
        </p:nvSpPr>
        <p:spPr>
          <a:xfrm>
            <a:off x="3730752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render_msd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MSD palette</a:t>
            </a: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5852160" y="2331720"/>
            <a:ext cx="566928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7"/>
          <p:cNvSpPr/>
          <p:nvPr/>
        </p:nvSpPr>
        <p:spPr>
          <a:xfrm>
            <a:off x="6355079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7"/>
          <p:cNvSpPr/>
          <p:nvPr/>
        </p:nvSpPr>
        <p:spPr>
          <a:xfrm>
            <a:off x="6355079" y="1965960"/>
            <a:ext cx="2148840" cy="128016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7"/>
          <p:cNvSpPr txBox="1"/>
          <p:nvPr/>
        </p:nvSpPr>
        <p:spPr>
          <a:xfrm>
            <a:off x="6519671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uint8 NCHW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8641080" y="2331720"/>
            <a:ext cx="566928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7"/>
          <p:cNvSpPr/>
          <p:nvPr/>
        </p:nvSpPr>
        <p:spPr>
          <a:xfrm>
            <a:off x="9144000" y="1965960"/>
            <a:ext cx="21488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9144000" y="1965960"/>
            <a:ext cx="2148840" cy="128016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7"/>
          <p:cNvSpPr txBox="1"/>
          <p:nvPr/>
        </p:nvSpPr>
        <p:spPr>
          <a:xfrm>
            <a:off x="9308592" y="2331720"/>
            <a:ext cx="1810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TorchMetrics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FID 2048</a:t>
            </a: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1143000" y="4251960"/>
            <a:ext cx="9829800" cy="749808"/>
          </a:xfrm>
          <a:prstGeom prst="roundRect">
            <a:avLst>
              <a:gd fmla="val 16667" name="adj"/>
            </a:avLst>
          </a:prstGeom>
          <a:solidFill>
            <a:srgbClr val="FCEFEA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7"/>
          <p:cNvSpPr txBox="1"/>
          <p:nvPr/>
        </p:nvSpPr>
        <p:spPr>
          <a:xfrm>
            <a:off x="1481328" y="4480560"/>
            <a:ext cx="9189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Caveat: absolute FID can shift with rasterization; comparisons are meaningful when the render protocol is fixed.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13</a:t>
            </a:r>
            <a:endParaRPr/>
          </a:p>
        </p:txBody>
      </p:sp>
      <p:sp>
        <p:nvSpPr>
          <p:cNvPr id="590" name="Google Shape;590;p28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93" name="Google Shape;593;p28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PRDC density / coverage</a:t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Density and Coverage use the same Inception feature space as FID.</a:t>
            </a:r>
            <a:endParaRPr/>
          </a:p>
        </p:txBody>
      </p:sp>
      <p:sp>
        <p:nvSpPr>
          <p:cNvPr id="595" name="Google Shape;595;p28"/>
          <p:cNvSpPr/>
          <p:nvPr/>
        </p:nvSpPr>
        <p:spPr>
          <a:xfrm>
            <a:off x="868680" y="1737360"/>
            <a:ext cx="489204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8"/>
          <p:cNvSpPr txBox="1"/>
          <p:nvPr/>
        </p:nvSpPr>
        <p:spPr>
          <a:xfrm>
            <a:off x="1143000" y="1993392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25F4C"/>
                </a:solidFill>
                <a:latin typeface="Play"/>
                <a:ea typeface="Play"/>
                <a:cs typeface="Play"/>
                <a:sym typeface="Play"/>
              </a:rPr>
              <a:t>Density</a:t>
            </a:r>
            <a:endParaRPr/>
          </a:p>
        </p:txBody>
      </p:sp>
      <p:sp>
        <p:nvSpPr>
          <p:cNvPr id="597" name="Google Shape;597;p28"/>
          <p:cNvSpPr txBox="1"/>
          <p:nvPr/>
        </p:nvSpPr>
        <p:spPr>
          <a:xfrm>
            <a:off x="1188720" y="2542032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Generated points inside real k-nearest-neighbor balls.</a:t>
            </a:r>
            <a:endParaRPr/>
          </a:p>
        </p:txBody>
      </p:sp>
      <p:sp>
        <p:nvSpPr>
          <p:cNvPr id="598" name="Google Shape;598;p28"/>
          <p:cNvSpPr txBox="1"/>
          <p:nvPr/>
        </p:nvSpPr>
        <p:spPr>
          <a:xfrm>
            <a:off x="1188720" y="315468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Answers: are samples on the real manifold?</a:t>
            </a:r>
            <a:endParaRPr/>
          </a:p>
        </p:txBody>
      </p:sp>
      <p:sp>
        <p:nvSpPr>
          <p:cNvPr id="599" name="Google Shape;599;p28"/>
          <p:cNvSpPr/>
          <p:nvPr/>
        </p:nvSpPr>
        <p:spPr>
          <a:xfrm>
            <a:off x="6446520" y="1737360"/>
            <a:ext cx="489204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8"/>
          <p:cNvSpPr txBox="1"/>
          <p:nvPr/>
        </p:nvSpPr>
        <p:spPr>
          <a:xfrm>
            <a:off x="6720840" y="1993392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rPr>
              <a:t>Coverage</a:t>
            </a:r>
            <a:endParaRPr/>
          </a:p>
        </p:txBody>
      </p:sp>
      <p:sp>
        <p:nvSpPr>
          <p:cNvPr id="601" name="Google Shape;601;p28"/>
          <p:cNvSpPr txBox="1"/>
          <p:nvPr/>
        </p:nvSpPr>
        <p:spPr>
          <a:xfrm>
            <a:off x="6766560" y="2542032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Real points reached by nearby generated samples.</a:t>
            </a:r>
            <a:endParaRPr/>
          </a:p>
        </p:txBody>
      </p:sp>
      <p:sp>
        <p:nvSpPr>
          <p:cNvPr id="602" name="Google Shape;602;p28"/>
          <p:cNvSpPr txBox="1"/>
          <p:nvPr/>
        </p:nvSpPr>
        <p:spPr>
          <a:xfrm>
            <a:off x="6766560" y="315468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Answers: how much real variety do we cover?</a:t>
            </a:r>
            <a:endParaRPr/>
          </a:p>
        </p:txBody>
      </p:sp>
      <p:sp>
        <p:nvSpPr>
          <p:cNvPr id="603" name="Google Shape;603;p28"/>
          <p:cNvSpPr txBox="1"/>
          <p:nvPr/>
        </p:nvSpPr>
        <p:spPr>
          <a:xfrm>
            <a:off x="2880360" y="5650992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Implementation: vendored clovaai PRDC, k=5.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9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14</a:t>
            </a:r>
            <a:endParaRPr/>
          </a:p>
        </p:txBody>
      </p:sp>
      <p:sp>
        <p:nvSpPr>
          <p:cNvPr id="614" name="Google Shape;614;p29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615" name="Google Shape;615;p29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9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17" name="Google Shape;617;p29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Train/test and seed 42</a:t>
            </a:r>
            <a:endParaRPr/>
          </a:p>
        </p:txBody>
      </p:sp>
      <p:sp>
        <p:nvSpPr>
          <p:cNvPr id="618" name="Google Shape;618;p29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What is fixed, and what is averaged.</a:t>
            </a:r>
            <a:endParaRPr/>
          </a:p>
        </p:txBody>
      </p:sp>
      <p:sp>
        <p:nvSpPr>
          <p:cNvPr id="619" name="Google Shape;619;p29"/>
          <p:cNvSpPr/>
          <p:nvPr/>
        </p:nvSpPr>
        <p:spPr>
          <a:xfrm>
            <a:off x="841248" y="1691640"/>
            <a:ext cx="507492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1115568" y="1965960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Training setup</a:t>
            </a:r>
            <a:endParaRPr/>
          </a:p>
        </p:txBody>
      </p:sp>
      <p:sp>
        <p:nvSpPr>
          <p:cNvPr id="621" name="Google Shape;621;p29"/>
          <p:cNvSpPr/>
          <p:nvPr/>
        </p:nvSpPr>
        <p:spPr>
          <a:xfrm>
            <a:off x="1143000" y="2587752"/>
            <a:ext cx="73152" cy="310896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 txBox="1"/>
          <p:nvPr/>
        </p:nvSpPr>
        <p:spPr>
          <a:xfrm>
            <a:off x="1307592" y="2514600"/>
            <a:ext cx="42702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Full plan_id model on 5,372 plans / 203k rooms.</a:t>
            </a:r>
            <a:endParaRPr/>
          </a:p>
        </p:txBody>
      </p:sp>
      <p:sp>
        <p:nvSpPr>
          <p:cNvPr id="623" name="Google Shape;623;p29"/>
          <p:cNvSpPr/>
          <p:nvPr/>
        </p:nvSpPr>
        <p:spPr>
          <a:xfrm>
            <a:off x="1143000" y="3200400"/>
            <a:ext cx="73152" cy="310896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 txBox="1"/>
          <p:nvPr/>
        </p:nvSpPr>
        <p:spPr>
          <a:xfrm>
            <a:off x="1307592" y="3127248"/>
            <a:ext cx="42702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15k training steps, d_model=128, L=4, 1.33M params.</a:t>
            </a:r>
            <a:endParaRPr/>
          </a:p>
        </p:txBody>
      </p:sp>
      <p:sp>
        <p:nvSpPr>
          <p:cNvPr id="625" name="Google Shape;625;p29"/>
          <p:cNvSpPr/>
          <p:nvPr/>
        </p:nvSpPr>
        <p:spPr>
          <a:xfrm>
            <a:off x="1143000" y="3813048"/>
            <a:ext cx="73152" cy="310896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 txBox="1"/>
          <p:nvPr/>
        </p:nvSpPr>
        <p:spPr>
          <a:xfrm>
            <a:off x="1307592" y="3739896"/>
            <a:ext cx="42702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Held-out evaluation uses the repo's seeded split.</a:t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6446520" y="1691640"/>
            <a:ext cx="489204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 txBox="1"/>
          <p:nvPr/>
        </p:nvSpPr>
        <p:spPr>
          <a:xfrm>
            <a:off x="6720840" y="196596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Seed discipline</a:t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6748272" y="2587752"/>
            <a:ext cx="73152" cy="310896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 txBox="1"/>
          <p:nvPr/>
        </p:nvSpPr>
        <p:spPr>
          <a:xfrm>
            <a:off x="6912864" y="2514600"/>
            <a:ext cx="3904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Seed 42 is fixed for reproducible generation.</a:t>
            </a:r>
            <a:endParaRPr/>
          </a:p>
        </p:txBody>
      </p:sp>
      <p:sp>
        <p:nvSpPr>
          <p:cNvPr id="631" name="Google Shape;631;p29"/>
          <p:cNvSpPr/>
          <p:nvPr/>
        </p:nvSpPr>
        <p:spPr>
          <a:xfrm>
            <a:off x="6748272" y="3200400"/>
            <a:ext cx="73152" cy="310896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 txBox="1"/>
          <p:nvPr/>
        </p:nvSpPr>
        <p:spPr>
          <a:xfrm>
            <a:off x="6912864" y="3127248"/>
            <a:ext cx="3904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Final headline values are robust 3-seed means where marked.</a:t>
            </a:r>
            <a:endParaRPr/>
          </a:p>
        </p:txBody>
      </p:sp>
      <p:sp>
        <p:nvSpPr>
          <p:cNvPr id="633" name="Google Shape;633;p29"/>
          <p:cNvSpPr/>
          <p:nvPr/>
        </p:nvSpPr>
        <p:spPr>
          <a:xfrm>
            <a:off x="6748272" y="3813048"/>
            <a:ext cx="73152" cy="310896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 txBox="1"/>
          <p:nvPr/>
        </p:nvSpPr>
        <p:spPr>
          <a:xfrm>
            <a:off x="6912864" y="3739896"/>
            <a:ext cx="3904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Single stochastic runs can overstate Coverage.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0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15</a:t>
            </a:r>
            <a:endParaRPr/>
          </a:p>
        </p:txBody>
      </p:sp>
      <p:sp>
        <p:nvSpPr>
          <p:cNvPr id="645" name="Google Shape;645;p30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48" name="Google Shape;648;p30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generate(outline) API</a:t>
            </a:r>
            <a:endParaRPr/>
          </a:p>
        </p:txBody>
      </p:sp>
      <p:sp>
        <p:nvSpPr>
          <p:cNvPr id="649" name="Google Shape;649;p30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 shipped interface returns vector geometry, not pixels.</a:t>
            </a:r>
            <a:endParaRPr/>
          </a:p>
        </p:txBody>
      </p:sp>
      <p:grpSp>
        <p:nvGrpSpPr>
          <p:cNvPr id="650" name="Google Shape;650;p30"/>
          <p:cNvGrpSpPr/>
          <p:nvPr/>
        </p:nvGrpSpPr>
        <p:grpSpPr>
          <a:xfrm>
            <a:off x="594360" y="1714500"/>
            <a:ext cx="6096000" cy="2667000"/>
            <a:chOff x="0" y="0"/>
            <a:chExt cx="6096000" cy="2667000"/>
          </a:xfrm>
        </p:grpSpPr>
        <p:sp>
          <p:nvSpPr>
            <p:cNvPr id="651" name="Google Shape;651;p30"/>
            <p:cNvSpPr/>
            <p:nvPr/>
          </p:nvSpPr>
          <p:spPr>
            <a:xfrm>
              <a:off x="0" y="0"/>
              <a:ext cx="6096000" cy="2667000"/>
            </a:xfrm>
            <a:prstGeom prst="roundRect">
              <a:avLst>
                <a:gd fmla="val 5714" name="adj"/>
              </a:avLst>
            </a:prstGeom>
            <a:solidFill>
              <a:srgbClr val="15212A"/>
            </a:solidFill>
            <a:ln cap="flat" cmpd="sng" w="9525">
              <a:solidFill>
                <a:srgbClr val="2D3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361950" y="171450"/>
              <a:ext cx="114300" cy="1143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0"/>
            <p:cNvSpPr txBox="1"/>
            <p:nvPr/>
          </p:nvSpPr>
          <p:spPr>
            <a:xfrm>
              <a:off x="228600" y="533400"/>
              <a:ext cx="5638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from</a:t>
              </a: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generate </a:t>
              </a:r>
              <a:r>
                <a:rPr b="1" lang="en-US" sz="12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import</a:t>
              </a: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125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generate</a:t>
              </a:r>
              <a:endParaRPr sz="12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rooms = </a:t>
              </a:r>
              <a:r>
                <a:rPr lang="en-US" sz="125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generate</a:t>
              </a:r>
              <a:r>
                <a:rPr lang="en-US" sz="12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(outline)</a:t>
              </a:r>
              <a:endParaRPr sz="12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E8B96"/>
                  </a:solidFill>
                  <a:latin typeface="Consolas"/>
                  <a:ea typeface="Consolas"/>
                  <a:cs typeface="Consolas"/>
                  <a:sym typeface="Consolas"/>
                </a:rPr>
                <a:t># outline: shapely Polygon/MultiPolygon or WKT</a:t>
              </a:r>
              <a:endParaRPr sz="1150">
                <a:solidFill>
                  <a:srgbClr val="7E8B9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7E8B96"/>
                  </a:solidFill>
                  <a:latin typeface="Consolas"/>
                  <a:ea typeface="Consolas"/>
                  <a:cs typeface="Consolas"/>
                  <a:sym typeface="Consolas"/>
                </a:rPr>
                <a:t># rooms: [(shapely Polygon, room_type_id), ...]</a:t>
              </a:r>
              <a:endParaRPr sz="1150">
                <a:solidFill>
                  <a:srgbClr val="7E8B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56" name="Google Shape;656;p30"/>
          <p:cNvGrpSpPr/>
          <p:nvPr/>
        </p:nvGrpSpPr>
        <p:grpSpPr>
          <a:xfrm>
            <a:off x="6979920" y="1714500"/>
            <a:ext cx="4617600" cy="2667000"/>
            <a:chOff x="0" y="0"/>
            <a:chExt cx="4617600" cy="2667000"/>
          </a:xfrm>
        </p:grpSpPr>
        <p:sp>
          <p:nvSpPr>
            <p:cNvPr id="657" name="Google Shape;657;p30"/>
            <p:cNvSpPr/>
            <p:nvPr/>
          </p:nvSpPr>
          <p:spPr>
            <a:xfrm>
              <a:off x="0" y="0"/>
              <a:ext cx="46176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0"/>
            <p:cNvSpPr txBox="1"/>
            <p:nvPr/>
          </p:nvSpPr>
          <p:spPr>
            <a:xfrm>
              <a:off x="228600" y="228600"/>
              <a:ext cx="41604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5212A"/>
                  </a:solidFill>
                  <a:latin typeface="Play"/>
                  <a:ea typeface="Play"/>
                  <a:cs typeface="Play"/>
                  <a:sym typeface="Play"/>
                </a:rPr>
                <a:t>Defaults in final entry point</a:t>
              </a:r>
              <a:endParaRPr b="1" sz="1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churn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0.3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align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True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grid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5212A"/>
                  </a:solidFill>
                  <a:latin typeface="Consolas"/>
                  <a:ea typeface="Consolas"/>
                  <a:cs typeface="Consolas"/>
                  <a:sym typeface="Consolas"/>
                </a:rPr>
                <a:t>seed</a:t>
              </a:r>
              <a:r>
                <a:rPr lang="en-US" sz="1400">
                  <a:solidFill>
                    <a:srgbClr val="56636E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b="1" lang="en-US" sz="14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30"/>
          <p:cNvGrpSpPr/>
          <p:nvPr/>
        </p:nvGrpSpPr>
        <p:grpSpPr>
          <a:xfrm>
            <a:off x="594360" y="4610100"/>
            <a:ext cx="11003400" cy="1295400"/>
            <a:chOff x="0" y="0"/>
            <a:chExt cx="11003400" cy="1295400"/>
          </a:xfrm>
        </p:grpSpPr>
        <p:sp>
          <p:nvSpPr>
            <p:cNvPr id="660" name="Google Shape;660;p30"/>
            <p:cNvSpPr/>
            <p:nvPr/>
          </p:nvSpPr>
          <p:spPr>
            <a:xfrm>
              <a:off x="0" y="0"/>
              <a:ext cx="11003400" cy="1295400"/>
            </a:xfrm>
            <a:prstGeom prst="roundRect">
              <a:avLst>
                <a:gd fmla="val 11764" name="adj"/>
              </a:avLst>
            </a:prstGeom>
            <a:solidFill>
              <a:srgbClr val="EAF6F4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0" y="0"/>
              <a:ext cx="228600" cy="1295400"/>
            </a:xfrm>
            <a:custGeom>
              <a:rect b="b" l="l" r="r" t="t"/>
              <a:pathLst>
                <a:path extrusionOk="0" h="120000" w="120000">
                  <a:moveTo>
                    <a:pt x="0" y="14118"/>
                  </a:moveTo>
                  <a:cubicBezTo>
                    <a:pt x="-1" y="10374"/>
                    <a:pt x="8428" y="6783"/>
                    <a:pt x="23431" y="4135"/>
                  </a:cubicBezTo>
                  <a:cubicBezTo>
                    <a:pt x="38434" y="1487"/>
                    <a:pt x="58782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58783" y="120000"/>
                    <a:pt x="38434" y="118513"/>
                    <a:pt x="23431" y="115865"/>
                  </a:cubicBezTo>
                  <a:cubicBezTo>
                    <a:pt x="8429" y="113217"/>
                    <a:pt x="0" y="109627"/>
                    <a:pt x="0" y="105882"/>
                  </a:cubicBezTo>
                  <a:close/>
                </a:path>
              </a:pathLst>
            </a:cu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0"/>
            <p:cNvSpPr txBox="1"/>
            <p:nvPr/>
          </p:nvSpPr>
          <p:spPr>
            <a:xfrm>
              <a:off x="457200" y="228600"/>
              <a:ext cx="100890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9F8C"/>
                  </a:solidFill>
                  <a:latin typeface="Play"/>
                  <a:ea typeface="Play"/>
                  <a:cs typeface="Play"/>
                  <a:sym typeface="Play"/>
                </a:rPr>
                <a:t>Contract Requirement</a:t>
              </a:r>
              <a:endParaRPr b="1" sz="1400">
                <a:solidFill>
                  <a:srgbClr val="009F8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The outline is the only condition; output polygons fill the outline with zero interior gap by construction.</a:t>
              </a:r>
              <a:endParaRPr b="1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1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16</a:t>
            </a:r>
            <a:endParaRPr/>
          </a:p>
        </p:txBody>
      </p:sp>
      <p:sp>
        <p:nvSpPr>
          <p:cNvPr id="673" name="Google Shape;673;p31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1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76" name="Google Shape;676;p31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Token representation</a:t>
            </a:r>
            <a:endParaRPr/>
          </a:p>
        </p:txBody>
      </p:sp>
      <p:sp>
        <p:nvSpPr>
          <p:cNvPr id="677" name="Google Shape;677;p31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 vector plan becomes a fixed-size set of typed room tokens.</a:t>
            </a:r>
            <a:endParaRPr/>
          </a:p>
        </p:txBody>
      </p:sp>
      <p:grpSp>
        <p:nvGrpSpPr>
          <p:cNvPr id="678" name="Google Shape;678;p31"/>
          <p:cNvGrpSpPr/>
          <p:nvPr/>
        </p:nvGrpSpPr>
        <p:grpSpPr>
          <a:xfrm>
            <a:off x="594360" y="1571625"/>
            <a:ext cx="11003400" cy="2979300"/>
            <a:chOff x="594360" y="1571625"/>
            <a:chExt cx="11003400" cy="2979300"/>
          </a:xfrm>
        </p:grpSpPr>
        <p:grpSp>
          <p:nvGrpSpPr>
            <p:cNvPr id="679" name="Google Shape;679;p31"/>
            <p:cNvGrpSpPr/>
            <p:nvPr/>
          </p:nvGrpSpPr>
          <p:grpSpPr>
            <a:xfrm>
              <a:off x="594360" y="1571625"/>
              <a:ext cx="11003400" cy="502800"/>
              <a:chOff x="0" y="0"/>
              <a:chExt cx="11003400" cy="502800"/>
            </a:xfrm>
          </p:grpSpPr>
          <p:sp>
            <p:nvSpPr>
              <p:cNvPr id="680" name="Google Shape;680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presence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83" name="Google Shape;683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real room vs padding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4" name="Google Shape;684;p31"/>
            <p:cNvGrpSpPr/>
            <p:nvPr/>
          </p:nvGrpSpPr>
          <p:grpSpPr>
            <a:xfrm>
              <a:off x="594360" y="2190750"/>
              <a:ext cx="11003400" cy="502800"/>
              <a:chOff x="0" y="0"/>
              <a:chExt cx="11003400" cy="502800"/>
            </a:xfrm>
          </p:grpSpPr>
          <p:sp>
            <p:nvSpPr>
              <p:cNvPr id="685" name="Google Shape;685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cx, cy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88" name="Google Shape;688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center in outline bbox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9" name="Google Shape;689;p31"/>
            <p:cNvGrpSpPr/>
            <p:nvPr/>
          </p:nvGrpSpPr>
          <p:grpSpPr>
            <a:xfrm>
              <a:off x="594360" y="2809875"/>
              <a:ext cx="11003400" cy="502800"/>
              <a:chOff x="0" y="0"/>
              <a:chExt cx="11003400" cy="502800"/>
            </a:xfrm>
          </p:grpSpPr>
          <p:sp>
            <p:nvSpPr>
              <p:cNvPr id="690" name="Google Shape;690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3A8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w, h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93" name="Google Shape;693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oriented rectangle size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4" name="Google Shape;694;p31"/>
            <p:cNvGrpSpPr/>
            <p:nvPr/>
          </p:nvGrpSpPr>
          <p:grpSpPr>
            <a:xfrm>
              <a:off x="594360" y="3429000"/>
              <a:ext cx="11003400" cy="502800"/>
              <a:chOff x="0" y="0"/>
              <a:chExt cx="11003400" cy="502800"/>
            </a:xfrm>
          </p:grpSpPr>
          <p:sp>
            <p:nvSpPr>
              <p:cNvPr id="695" name="Google Shape;695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sin2theta, cos2theta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98" name="Google Shape;698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rotation without angle wrap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9" name="Google Shape;699;p31"/>
            <p:cNvGrpSpPr/>
            <p:nvPr/>
          </p:nvGrpSpPr>
          <p:grpSpPr>
            <a:xfrm>
              <a:off x="594360" y="4048125"/>
              <a:ext cx="11003400" cy="502800"/>
              <a:chOff x="0" y="0"/>
              <a:chExt cx="11003400" cy="502800"/>
            </a:xfrm>
          </p:grpSpPr>
          <p:sp>
            <p:nvSpPr>
              <p:cNvPr id="700" name="Google Shape;700;p31"/>
              <p:cNvSpPr/>
              <p:nvPr/>
            </p:nvSpPr>
            <p:spPr>
              <a:xfrm>
                <a:off x="0" y="0"/>
                <a:ext cx="11003400" cy="502800"/>
              </a:xfrm>
              <a:prstGeom prst="roundRect">
                <a:avLst>
                  <a:gd fmla="val 1515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1"/>
              <p:cNvSpPr/>
              <p:nvPr/>
            </p:nvSpPr>
            <p:spPr>
              <a:xfrm>
                <a:off x="95250" y="95250"/>
                <a:ext cx="1905000" cy="312300"/>
              </a:xfrm>
              <a:prstGeom prst="roundRect">
                <a:avLst>
                  <a:gd fmla="val 18292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1"/>
              <p:cNvSpPr txBox="1"/>
              <p:nvPr/>
            </p:nvSpPr>
            <p:spPr>
              <a:xfrm>
                <a:off x="95250" y="95250"/>
                <a:ext cx="19050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type one-hot</a:t>
                </a:r>
                <a:endParaRPr b="1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03" name="Google Shape;703;p31"/>
              <p:cNvSpPr txBox="1"/>
              <p:nvPr/>
            </p:nvSpPr>
            <p:spPr>
              <a:xfrm>
                <a:off x="2190750" y="0"/>
                <a:ext cx="8572500" cy="5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room type id</a:t>
                </a:r>
                <a:endParaRPr b="0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4" name="Google Shape;704;p31"/>
          <p:cNvGrpSpPr/>
          <p:nvPr/>
        </p:nvGrpSpPr>
        <p:grpSpPr>
          <a:xfrm>
            <a:off x="594360" y="4714875"/>
            <a:ext cx="11003400" cy="914400"/>
            <a:chOff x="0" y="0"/>
            <a:chExt cx="11003400" cy="914400"/>
          </a:xfrm>
        </p:grpSpPr>
        <p:sp>
          <p:nvSpPr>
            <p:cNvPr id="705" name="Google Shape;705;p31"/>
            <p:cNvSpPr/>
            <p:nvPr/>
          </p:nvSpPr>
          <p:spPr>
            <a:xfrm>
              <a:off x="0" y="0"/>
              <a:ext cx="11003400" cy="914400"/>
            </a:xfrm>
            <a:prstGeom prst="roundRect">
              <a:avLst>
                <a:gd fmla="val 12500" name="adj"/>
              </a:avLst>
            </a:prstGeom>
            <a:solidFill>
              <a:srgbClr val="EAF6F4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0" y="0"/>
              <a:ext cx="171600" cy="9144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cubicBezTo>
                    <a:pt x="0" y="6712"/>
                    <a:pt x="35800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35800" y="120000"/>
                    <a:pt x="0" y="113287"/>
                    <a:pt x="0" y="105000"/>
                  </a:cubicBezTo>
                  <a:close/>
                </a:path>
              </a:pathLst>
            </a:cu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1"/>
            <p:cNvSpPr txBox="1"/>
            <p:nvPr/>
          </p:nvSpPr>
          <p:spPr>
            <a:xfrm>
              <a:off x="381000" y="0"/>
              <a:ext cx="102393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Decoding clips oriented rectangles to the outline, resolves overlaps, removes slivers, then gap-fills.</a:t>
              </a:r>
              <a:endParaRPr b="1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2"/>
          <p:cNvSpPr/>
          <p:nvPr/>
        </p:nvSpPr>
        <p:spPr>
          <a:xfrm>
            <a:off x="0" y="54864"/>
            <a:ext cx="2194560" cy="32004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2"/>
          <p:cNvSpPr/>
          <p:nvPr/>
        </p:nvSpPr>
        <p:spPr>
          <a:xfrm>
            <a:off x="2194560" y="54864"/>
            <a:ext cx="1280160" cy="32004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2"/>
          <p:cNvSpPr/>
          <p:nvPr/>
        </p:nvSpPr>
        <p:spPr>
          <a:xfrm>
            <a:off x="3474720" y="54864"/>
            <a:ext cx="1188720" cy="32004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2"/>
          <p:cNvSpPr txBox="1"/>
          <p:nvPr/>
        </p:nvSpPr>
        <p:spPr>
          <a:xfrm>
            <a:off x="502920" y="647395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17</a:t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9921240" y="647395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719" name="Google Shape;719;p32"/>
          <p:cNvSpPr/>
          <p:nvPr/>
        </p:nvSpPr>
        <p:spPr>
          <a:xfrm>
            <a:off x="594360" y="329184"/>
            <a:ext cx="1481328" cy="310896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2"/>
          <p:cNvSpPr txBox="1"/>
          <p:nvPr/>
        </p:nvSpPr>
        <p:spPr>
          <a:xfrm>
            <a:off x="640080" y="361188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721" name="Google Shape;721;p32"/>
          <p:cNvSpPr txBox="1"/>
          <p:nvPr/>
        </p:nvSpPr>
        <p:spPr>
          <a:xfrm>
            <a:off x="566928" y="7132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Failure cases</a:t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594360" y="11704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Qualitative repo outputs illustrate the remaining diversity gap.</a:t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822960" y="1572768"/>
            <a:ext cx="5074920" cy="26517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ir_000.png" id="724" name="Google Shape;7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1676045"/>
            <a:ext cx="4928616" cy="244520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2"/>
          <p:cNvSpPr/>
          <p:nvPr/>
        </p:nvSpPr>
        <p:spPr>
          <a:xfrm>
            <a:off x="6263640" y="1572768"/>
            <a:ext cx="5074920" cy="26517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ir_005.png" id="726" name="Google Shape;72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792" y="1676045"/>
            <a:ext cx="4928616" cy="244520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2"/>
          <p:cNvSpPr/>
          <p:nvPr/>
        </p:nvSpPr>
        <p:spPr>
          <a:xfrm>
            <a:off x="1143000" y="4709160"/>
            <a:ext cx="9921240" cy="804672"/>
          </a:xfrm>
          <a:prstGeom prst="roundRect">
            <a:avLst>
              <a:gd fmla="val 16667" name="adj"/>
            </a:avLst>
          </a:prstGeom>
          <a:solidFill>
            <a:srgbClr val="FCEFEA"/>
          </a:solidFill>
          <a:ln cap="flat" cmpd="sng" w="9525">
            <a:solidFill>
              <a:srgbClr val="D9DD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2"/>
          <p:cNvSpPr txBox="1"/>
          <p:nvPr/>
        </p:nvSpPr>
        <p:spPr>
          <a:xfrm>
            <a:off x="1417320" y="4956048"/>
            <a:ext cx="9372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rPr>
              <a:t>Remaining issues: generated plans can be simplified, off-manifold, or too average for the real layout variety.</a:t>
            </a:r>
            <a:endParaRPr/>
          </a:p>
        </p:txBody>
      </p:sp>
      <p:sp>
        <p:nvSpPr>
          <p:cNvPr id="729" name="Google Shape;729;p32"/>
          <p:cNvSpPr txBox="1"/>
          <p:nvPr/>
        </p:nvSpPr>
        <p:spPr>
          <a:xfrm>
            <a:off x="2788920" y="5715000"/>
            <a:ext cx="6675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These images are existing repo qualitative examples, not extra final metric claims.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3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3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3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17</a:t>
            </a:r>
            <a:endParaRPr/>
          </a:p>
        </p:txBody>
      </p:sp>
      <p:sp>
        <p:nvSpPr>
          <p:cNvPr id="740" name="Google Shape;740;p33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741" name="Google Shape;741;p33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743" name="Google Shape;743;p33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Failure cases</a:t>
            </a:r>
            <a:endParaRPr/>
          </a:p>
        </p:txBody>
      </p:sp>
      <p:sp>
        <p:nvSpPr>
          <p:cNvPr id="744" name="Google Shape;744;p33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Qualitative repo outputs illustrate the remaining diversity gap.</a:t>
            </a:r>
            <a:endParaRPr/>
          </a:p>
        </p:txBody>
      </p:sp>
      <p:grpSp>
        <p:nvGrpSpPr>
          <p:cNvPr id="745" name="Google Shape;745;p33"/>
          <p:cNvGrpSpPr/>
          <p:nvPr/>
        </p:nvGrpSpPr>
        <p:grpSpPr>
          <a:xfrm>
            <a:off x="594360" y="2809875"/>
            <a:ext cx="11003280" cy="2857500"/>
            <a:chOff x="594360" y="2809875"/>
            <a:chExt cx="11003280" cy="2857500"/>
          </a:xfrm>
        </p:grpSpPr>
        <p:sp>
          <p:nvSpPr>
            <p:cNvPr id="746" name="Google Shape;746;p33"/>
            <p:cNvSpPr/>
            <p:nvPr/>
          </p:nvSpPr>
          <p:spPr>
            <a:xfrm>
              <a:off x="594360" y="2809875"/>
              <a:ext cx="5334000" cy="2857500"/>
            </a:xfrm>
            <a:prstGeom prst="roundRect">
              <a:avLst>
                <a:gd fmla="val 5333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6263640" y="2809875"/>
              <a:ext cx="5334000" cy="2857500"/>
            </a:xfrm>
            <a:prstGeom prst="roundRect">
              <a:avLst>
                <a:gd fmla="val 5333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746760" y="2924175"/>
              <a:ext cx="1238400" cy="228600"/>
            </a:xfrm>
            <a:prstGeom prst="roundRect">
              <a:avLst>
                <a:gd fmla="val 50000" name="adj"/>
              </a:avLst>
            </a:prstGeom>
            <a:solidFill>
              <a:srgbClr val="15212A"/>
            </a:solidFill>
            <a:ln cap="flat" cmpd="sng" w="9525">
              <a:solidFill>
                <a:srgbClr val="2D3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3"/>
            <p:cNvSpPr txBox="1"/>
            <p:nvPr/>
          </p:nvSpPr>
          <p:spPr>
            <a:xfrm>
              <a:off x="746760" y="29241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REPO_OUTPUT_01</a:t>
              </a:r>
              <a:endParaRPr b="1" sz="800">
                <a:solidFill>
                  <a:srgbClr val="009F8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6416040" y="2924175"/>
              <a:ext cx="1238400" cy="228600"/>
            </a:xfrm>
            <a:prstGeom prst="roundRect">
              <a:avLst>
                <a:gd fmla="val 50000" name="adj"/>
              </a:avLst>
            </a:prstGeom>
            <a:solidFill>
              <a:srgbClr val="15212A"/>
            </a:solidFill>
            <a:ln cap="flat" cmpd="sng" w="9525">
              <a:solidFill>
                <a:srgbClr val="2D3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3"/>
            <p:cNvSpPr txBox="1"/>
            <p:nvPr/>
          </p:nvSpPr>
          <p:spPr>
            <a:xfrm>
              <a:off x="6416040" y="29241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9F8C"/>
                  </a:solidFill>
                  <a:latin typeface="Consolas"/>
                  <a:ea typeface="Consolas"/>
                  <a:cs typeface="Consolas"/>
                  <a:sym typeface="Consolas"/>
                </a:rPr>
                <a:t>REPO_OUTPUT_02</a:t>
              </a:r>
              <a:endParaRPr b="1" sz="800">
                <a:solidFill>
                  <a:srgbClr val="009F8C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52" name="Google Shape;752;p33"/>
          <p:cNvGrpSpPr/>
          <p:nvPr/>
        </p:nvGrpSpPr>
        <p:grpSpPr>
          <a:xfrm>
            <a:off x="594360" y="1666875"/>
            <a:ext cx="11001450" cy="857400"/>
            <a:chOff x="594360" y="1666875"/>
            <a:chExt cx="11001450" cy="857400"/>
          </a:xfrm>
        </p:grpSpPr>
        <p:sp>
          <p:nvSpPr>
            <p:cNvPr id="753" name="Google Shape;753;p33"/>
            <p:cNvSpPr/>
            <p:nvPr/>
          </p:nvSpPr>
          <p:spPr>
            <a:xfrm>
              <a:off x="594360" y="1666875"/>
              <a:ext cx="3514800" cy="857400"/>
            </a:xfrm>
            <a:prstGeom prst="roundRect">
              <a:avLst>
                <a:gd fmla="val 8888" name="adj"/>
              </a:avLst>
            </a:prstGeom>
            <a:solidFill>
              <a:srgbClr val="FC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3"/>
            <p:cNvSpPr/>
            <p:nvPr/>
          </p:nvSpPr>
          <p:spPr>
            <a:xfrm>
              <a:off x="594360" y="1666875"/>
              <a:ext cx="38100" cy="8574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3"/>
            <p:cNvSpPr txBox="1"/>
            <p:nvPr/>
          </p:nvSpPr>
          <p:spPr>
            <a:xfrm>
              <a:off x="746760" y="1762125"/>
              <a:ext cx="32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Simplified Plans</a:t>
              </a:r>
              <a:endParaRPr b="1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Generated outputs can be overly simplified, lacking realistic partition complexity.</a:t>
              </a:r>
              <a:endParaRPr b="0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3"/>
            <p:cNvSpPr/>
            <p:nvPr/>
          </p:nvSpPr>
          <p:spPr>
            <a:xfrm>
              <a:off x="4337685" y="1666875"/>
              <a:ext cx="3514800" cy="857400"/>
            </a:xfrm>
            <a:prstGeom prst="roundRect">
              <a:avLst>
                <a:gd fmla="val 8888" name="adj"/>
              </a:avLst>
            </a:prstGeom>
            <a:solidFill>
              <a:srgbClr val="FC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3"/>
            <p:cNvSpPr/>
            <p:nvPr/>
          </p:nvSpPr>
          <p:spPr>
            <a:xfrm>
              <a:off x="4337685" y="1666875"/>
              <a:ext cx="38100" cy="8574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3"/>
            <p:cNvSpPr txBox="1"/>
            <p:nvPr/>
          </p:nvSpPr>
          <p:spPr>
            <a:xfrm>
              <a:off x="4490085" y="1762125"/>
              <a:ext cx="32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Off-Manifold Geometry</a:t>
              </a:r>
              <a:endParaRPr b="1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Layout predictions that violate realistic boundary or structural constraints.</a:t>
              </a:r>
              <a:endParaRPr b="0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3"/>
            <p:cNvSpPr/>
            <p:nvPr/>
          </p:nvSpPr>
          <p:spPr>
            <a:xfrm>
              <a:off x="8081010" y="1666875"/>
              <a:ext cx="3514800" cy="857400"/>
            </a:xfrm>
            <a:prstGeom prst="roundRect">
              <a:avLst>
                <a:gd fmla="val 8888" name="adj"/>
              </a:avLst>
            </a:prstGeom>
            <a:solidFill>
              <a:srgbClr val="FC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3"/>
            <p:cNvSpPr/>
            <p:nvPr/>
          </p:nvSpPr>
          <p:spPr>
            <a:xfrm>
              <a:off x="8081010" y="1666875"/>
              <a:ext cx="38100" cy="857400"/>
            </a:xfrm>
            <a:prstGeom prst="rect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3"/>
            <p:cNvSpPr txBox="1"/>
            <p:nvPr/>
          </p:nvSpPr>
          <p:spPr>
            <a:xfrm>
              <a:off x="8233410" y="1762125"/>
              <a:ext cx="3248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Average / Low Variety</a:t>
              </a:r>
              <a:endParaRPr b="1" sz="120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Converging to template averages rather than matching true layout diversity.</a:t>
              </a:r>
              <a:endParaRPr b="0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air_000.png" id="762" name="Google Shape;762;p33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689610" y="2962275"/>
            <a:ext cx="51435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r_005.png" id="763" name="Google Shape;763;p33"/>
          <p:cNvPicPr preferRelativeResize="0"/>
          <p:nvPr/>
        </p:nvPicPr>
        <p:blipFill rotWithShape="1">
          <a:blip r:embed="rId4">
            <a:alphaModFix/>
          </a:blip>
          <a:srcRect b="0" l="20" r="10" t="0"/>
          <a:stretch/>
        </p:blipFill>
        <p:spPr>
          <a:xfrm>
            <a:off x="6358890" y="2962275"/>
            <a:ext cx="5143500" cy="255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4" name="Google Shape;764;p33"/>
          <p:cNvGrpSpPr/>
          <p:nvPr/>
        </p:nvGrpSpPr>
        <p:grpSpPr>
          <a:xfrm>
            <a:off x="2788920" y="5857875"/>
            <a:ext cx="6675000" cy="228600"/>
            <a:chOff x="0" y="0"/>
            <a:chExt cx="6675000" cy="228600"/>
          </a:xfrm>
        </p:grpSpPr>
        <p:sp>
          <p:nvSpPr>
            <p:cNvPr id="765" name="Google Shape;765;p33"/>
            <p:cNvSpPr/>
            <p:nvPr/>
          </p:nvSpPr>
          <p:spPr>
            <a:xfrm>
              <a:off x="0" y="0"/>
              <a:ext cx="6675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3"/>
            <p:cNvSpPr txBox="1"/>
            <p:nvPr/>
          </p:nvSpPr>
          <p:spPr>
            <a:xfrm>
              <a:off x="0" y="0"/>
              <a:ext cx="667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00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These images are existing repo qualitative examples, not extra final metric claims.</a:t>
              </a:r>
              <a:endParaRPr b="0" i="1" sz="10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4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4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4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19</a:t>
            </a:r>
            <a:endParaRPr/>
          </a:p>
        </p:txBody>
      </p:sp>
      <p:sp>
        <p:nvSpPr>
          <p:cNvPr id="777" name="Google Shape;777;p34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778" name="Google Shape;778;p34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4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780" name="Google Shape;780;p34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Older subset results</a:t>
            </a:r>
            <a:endParaRPr/>
          </a:p>
        </p:txBody>
      </p:sp>
      <p:sp>
        <p:nvSpPr>
          <p:cNvPr id="781" name="Google Shape;781;p34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Background only: not the corrected final story.</a:t>
            </a:r>
            <a:endParaRPr/>
          </a:p>
        </p:txBody>
      </p:sp>
      <p:grpSp>
        <p:nvGrpSpPr>
          <p:cNvPr id="782" name="Google Shape;782;p34"/>
          <p:cNvGrpSpPr/>
          <p:nvPr/>
        </p:nvGrpSpPr>
        <p:grpSpPr>
          <a:xfrm>
            <a:off x="594360" y="1571625"/>
            <a:ext cx="11003400" cy="3848100"/>
            <a:chOff x="594360" y="1571625"/>
            <a:chExt cx="11003400" cy="3848100"/>
          </a:xfrm>
        </p:grpSpPr>
        <p:grpSp>
          <p:nvGrpSpPr>
            <p:cNvPr id="783" name="Google Shape;783;p34"/>
            <p:cNvGrpSpPr/>
            <p:nvPr/>
          </p:nvGrpSpPr>
          <p:grpSpPr>
            <a:xfrm>
              <a:off x="594360" y="1571625"/>
              <a:ext cx="5334000" cy="2809800"/>
              <a:chOff x="0" y="0"/>
              <a:chExt cx="5334000" cy="2809800"/>
            </a:xfrm>
          </p:grpSpPr>
          <p:sp>
            <p:nvSpPr>
              <p:cNvPr id="784" name="Google Shape;784;p34"/>
              <p:cNvSpPr/>
              <p:nvPr/>
            </p:nvSpPr>
            <p:spPr>
              <a:xfrm>
                <a:off x="0" y="0"/>
                <a:ext cx="5334000" cy="2809800"/>
              </a:xfrm>
              <a:prstGeom prst="roundRect">
                <a:avLst>
                  <a:gd fmla="val 40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34"/>
              <p:cNvSpPr/>
              <p:nvPr/>
            </p:nvSpPr>
            <p:spPr>
              <a:xfrm>
                <a:off x="190500" y="190500"/>
                <a:ext cx="34290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521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34"/>
              <p:cNvSpPr txBox="1"/>
              <p:nvPr/>
            </p:nvSpPr>
            <p:spPr>
              <a:xfrm>
                <a:off x="333375" y="190500"/>
                <a:ext cx="3143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Grouping: unit_id</a:t>
                </a:r>
                <a:endParaRPr b="1" sz="13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787" name="Google Shape;787;p34"/>
              <p:cNvSpPr/>
              <p:nvPr/>
            </p:nvSpPr>
            <p:spPr>
              <a:xfrm>
                <a:off x="3905250" y="247650"/>
                <a:ext cx="12384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E7F6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34"/>
              <p:cNvSpPr txBox="1"/>
              <p:nvPr/>
            </p:nvSpPr>
            <p:spPr>
              <a:xfrm>
                <a:off x="3905250" y="247650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SUBSET</a:t>
                </a:r>
                <a:endParaRPr b="1" sz="9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9" name="Google Shape;789;p34"/>
              <p:cNvGrpSpPr/>
              <p:nvPr/>
            </p:nvGrpSpPr>
            <p:grpSpPr>
              <a:xfrm>
                <a:off x="285750" y="809625"/>
                <a:ext cx="4762650" cy="1762125"/>
                <a:chOff x="0" y="0"/>
                <a:chExt cx="4762650" cy="1762125"/>
              </a:xfrm>
            </p:grpSpPr>
            <p:sp>
              <p:nvSpPr>
                <p:cNvPr id="790" name="Google Shape;790;p34"/>
                <p:cNvSpPr txBox="1"/>
                <p:nvPr/>
              </p:nvSpPr>
              <p:spPr>
                <a:xfrm>
                  <a:off x="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TRAIN / HELD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2,367 / 591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791" name="Google Shape;791;p34"/>
                <p:cNvSpPr txBox="1"/>
                <p:nvPr/>
              </p:nvSpPr>
              <p:spPr>
                <a:xfrm>
                  <a:off x="257175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FID (LOWER IS BETTER)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200">
                      <a:solidFill>
                        <a:srgbClr val="009F8C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129.2 </a:t>
                  </a:r>
                  <a:r>
                    <a:rPr b="0" lang="en-US" sz="1200">
                      <a:solidFill>
                        <a:srgbClr val="009F8C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▼</a:t>
                  </a:r>
                  <a:endParaRPr b="1" sz="2200">
                    <a:solidFill>
                      <a:srgbClr val="009F8C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792" name="Google Shape;792;p34"/>
                <p:cNvSpPr txBox="1"/>
                <p:nvPr/>
              </p:nvSpPr>
              <p:spPr>
                <a:xfrm>
                  <a:off x="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DENSITY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0.044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793" name="Google Shape;793;p34"/>
                <p:cNvSpPr txBox="1"/>
                <p:nvPr/>
              </p:nvSpPr>
              <p:spPr>
                <a:xfrm>
                  <a:off x="257175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COVERAGE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0.035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</p:grpSp>
        </p:grpSp>
        <p:grpSp>
          <p:nvGrpSpPr>
            <p:cNvPr id="794" name="Google Shape;794;p34"/>
            <p:cNvGrpSpPr/>
            <p:nvPr/>
          </p:nvGrpSpPr>
          <p:grpSpPr>
            <a:xfrm>
              <a:off x="6263640" y="1571625"/>
              <a:ext cx="5334000" cy="2809800"/>
              <a:chOff x="0" y="0"/>
              <a:chExt cx="5334000" cy="2809800"/>
            </a:xfrm>
          </p:grpSpPr>
          <p:sp>
            <p:nvSpPr>
              <p:cNvPr id="795" name="Google Shape;795;p34"/>
              <p:cNvSpPr/>
              <p:nvPr/>
            </p:nvSpPr>
            <p:spPr>
              <a:xfrm>
                <a:off x="0" y="0"/>
                <a:ext cx="5334000" cy="2809800"/>
              </a:xfrm>
              <a:prstGeom prst="roundRect">
                <a:avLst>
                  <a:gd fmla="val 40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4"/>
              <p:cNvSpPr/>
              <p:nvPr/>
            </p:nvSpPr>
            <p:spPr>
              <a:xfrm>
                <a:off x="190500" y="190500"/>
                <a:ext cx="34290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521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4"/>
              <p:cNvSpPr txBox="1"/>
              <p:nvPr/>
            </p:nvSpPr>
            <p:spPr>
              <a:xfrm>
                <a:off x="333375" y="190500"/>
                <a:ext cx="3143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rPr>
                  <a:t>Grouping: plan_id</a:t>
                </a:r>
                <a:endParaRPr b="1" sz="13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798" name="Google Shape;798;p34"/>
              <p:cNvSpPr/>
              <p:nvPr/>
            </p:nvSpPr>
            <p:spPr>
              <a:xfrm>
                <a:off x="3905250" y="247650"/>
                <a:ext cx="12384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E7F6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4"/>
              <p:cNvSpPr txBox="1"/>
              <p:nvPr/>
            </p:nvSpPr>
            <p:spPr>
              <a:xfrm>
                <a:off x="3905250" y="247650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SUBSET</a:t>
                </a:r>
                <a:endParaRPr b="1" sz="9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00" name="Google Shape;800;p34"/>
              <p:cNvGrpSpPr/>
              <p:nvPr/>
            </p:nvGrpSpPr>
            <p:grpSpPr>
              <a:xfrm>
                <a:off x="285750" y="809625"/>
                <a:ext cx="4762650" cy="1762125"/>
                <a:chOff x="0" y="0"/>
                <a:chExt cx="4762650" cy="1762125"/>
              </a:xfrm>
            </p:grpSpPr>
            <p:sp>
              <p:nvSpPr>
                <p:cNvPr id="801" name="Google Shape;801;p34"/>
                <p:cNvSpPr txBox="1"/>
                <p:nvPr/>
              </p:nvSpPr>
              <p:spPr>
                <a:xfrm>
                  <a:off x="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TRAIN / HELD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~1,600 / 400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802" name="Google Shape;802;p34"/>
                <p:cNvSpPr txBox="1"/>
                <p:nvPr/>
              </p:nvSpPr>
              <p:spPr>
                <a:xfrm>
                  <a:off x="2571750" y="0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FID (LOWER IS BETTER)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200">
                      <a:solidFill>
                        <a:srgbClr val="F25F4C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190.5</a:t>
                  </a:r>
                  <a:endParaRPr b="1" sz="2200">
                    <a:solidFill>
                      <a:srgbClr val="F25F4C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803" name="Google Shape;803;p34"/>
                <p:cNvSpPr txBox="1"/>
                <p:nvPr/>
              </p:nvSpPr>
              <p:spPr>
                <a:xfrm>
                  <a:off x="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DENSITY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0.052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  <p:sp>
              <p:nvSpPr>
                <p:cNvPr id="804" name="Google Shape;804;p34"/>
                <p:cNvSpPr txBox="1"/>
                <p:nvPr/>
              </p:nvSpPr>
              <p:spPr>
                <a:xfrm>
                  <a:off x="2571750" y="1000125"/>
                  <a:ext cx="21909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5663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COVERAGE</a:t>
                  </a:r>
                  <a:endParaRPr b="1" sz="950">
                    <a:solidFill>
                      <a:srgbClr val="5663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1" lang="en-US" sz="2000">
                      <a:solidFill>
                        <a:srgbClr val="15212A"/>
                      </a:solidFill>
                      <a:latin typeface="Play"/>
                      <a:ea typeface="Play"/>
                      <a:cs typeface="Play"/>
                      <a:sym typeface="Play"/>
                    </a:rPr>
                    <a:t>0.060</a:t>
                  </a:r>
                  <a:endParaRPr b="1" sz="2000">
                    <a:solidFill>
                      <a:srgbClr val="15212A"/>
                    </a:solidFill>
                    <a:latin typeface="Play"/>
                    <a:ea typeface="Play"/>
                    <a:cs typeface="Play"/>
                    <a:sym typeface="Play"/>
                  </a:endParaRPr>
                </a:p>
              </p:txBody>
            </p:sp>
          </p:grpSp>
        </p:grpSp>
        <p:grpSp>
          <p:nvGrpSpPr>
            <p:cNvPr id="805" name="Google Shape;805;p34"/>
            <p:cNvGrpSpPr/>
            <p:nvPr/>
          </p:nvGrpSpPr>
          <p:grpSpPr>
            <a:xfrm>
              <a:off x="594360" y="4619625"/>
              <a:ext cx="11003400" cy="800100"/>
              <a:chOff x="0" y="0"/>
              <a:chExt cx="11003400" cy="800100"/>
            </a:xfrm>
          </p:grpSpPr>
          <p:sp>
            <p:nvSpPr>
              <p:cNvPr id="806" name="Google Shape;806;p34"/>
              <p:cNvSpPr/>
              <p:nvPr/>
            </p:nvSpPr>
            <p:spPr>
              <a:xfrm>
                <a:off x="0" y="0"/>
                <a:ext cx="11003400" cy="800100"/>
              </a:xfrm>
              <a:prstGeom prst="roundRect">
                <a:avLst>
                  <a:gd fmla="val 14285" name="adj"/>
                </a:avLst>
              </a:prstGeom>
              <a:solidFill>
                <a:srgbClr val="FCEFEA"/>
              </a:solidFill>
              <a:ln cap="flat" cmpd="sng" w="9525">
                <a:solidFill>
                  <a:srgbClr val="D9DD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4"/>
              <p:cNvSpPr/>
              <p:nvPr/>
            </p:nvSpPr>
            <p:spPr>
              <a:xfrm>
                <a:off x="0" y="0"/>
                <a:ext cx="171600" cy="800100"/>
              </a:xfrm>
              <a:custGeom>
                <a:rect b="b" l="l" r="r" t="t"/>
                <a:pathLst>
                  <a:path extrusionOk="0" h="120000" w="120000">
                    <a:moveTo>
                      <a:pt x="0" y="17143"/>
                    </a:moveTo>
                    <a:cubicBezTo>
                      <a:pt x="0" y="7671"/>
                      <a:pt x="35800" y="0"/>
                      <a:pt x="80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80000" y="120000"/>
                    </a:lnTo>
                    <a:cubicBezTo>
                      <a:pt x="35800" y="120000"/>
                      <a:pt x="0" y="112329"/>
                      <a:pt x="0" y="102857"/>
                    </a:cubicBezTo>
                    <a:close/>
                  </a:path>
                </a:pathLst>
              </a:cu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4"/>
              <p:cNvSpPr txBox="1"/>
              <p:nvPr/>
            </p:nvSpPr>
            <p:spPr>
              <a:xfrm>
                <a:off x="361950" y="0"/>
                <a:ext cx="103824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These came from older subset experiments and are included only for provenance.</a:t>
                </a:r>
                <a:endParaRPr b="1" sz="120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09" name="Google Shape;8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"/>
            <a:ext cx="12191676" cy="6857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5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5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5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APPENDIX / 18</a:t>
            </a:r>
            <a:endParaRPr/>
          </a:p>
        </p:txBody>
      </p:sp>
      <p:sp>
        <p:nvSpPr>
          <p:cNvPr id="820" name="Google Shape;820;p35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821" name="Google Shape;821;p35"/>
          <p:cNvSpPr/>
          <p:nvPr/>
        </p:nvSpPr>
        <p:spPr>
          <a:xfrm>
            <a:off x="594360" y="329184"/>
            <a:ext cx="1481400" cy="310800"/>
          </a:xfrm>
          <a:prstGeom prst="roundRect">
            <a:avLst>
              <a:gd fmla="val 16667" name="adj"/>
            </a:avLst>
          </a:prstGeom>
          <a:solidFill>
            <a:srgbClr val="E7F6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5"/>
          <p:cNvSpPr txBox="1"/>
          <p:nvPr/>
        </p:nvSpPr>
        <p:spPr>
          <a:xfrm>
            <a:off x="640080" y="361188"/>
            <a:ext cx="1389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823" name="Google Shape;823;p35"/>
          <p:cNvSpPr txBox="1"/>
          <p:nvPr/>
        </p:nvSpPr>
        <p:spPr>
          <a:xfrm>
            <a:off x="566928" y="713232"/>
            <a:ext cx="70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Reproducibility commands</a:t>
            </a:r>
            <a:endParaRPr/>
          </a:p>
        </p:txBody>
      </p:sp>
      <p:sp>
        <p:nvSpPr>
          <p:cNvPr id="824" name="Google Shape;824;p35"/>
          <p:cNvSpPr txBox="1"/>
          <p:nvPr/>
        </p:nvSpPr>
        <p:spPr>
          <a:xfrm>
            <a:off x="594360" y="1170432"/>
            <a:ext cx="73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Commands are shown relative to `outlineflow/`.</a:t>
            </a:r>
            <a:endParaRPr/>
          </a:p>
        </p:txBody>
      </p:sp>
      <p:grpSp>
        <p:nvGrpSpPr>
          <p:cNvPr id="825" name="Google Shape;825;p35"/>
          <p:cNvGrpSpPr/>
          <p:nvPr/>
        </p:nvGrpSpPr>
        <p:grpSpPr>
          <a:xfrm>
            <a:off x="594360" y="1619250"/>
            <a:ext cx="3429000" cy="3238500"/>
            <a:chOff x="0" y="0"/>
            <a:chExt cx="3429000" cy="3238500"/>
          </a:xfrm>
        </p:grpSpPr>
        <p:sp>
          <p:nvSpPr>
            <p:cNvPr id="826" name="Google Shape;826;p35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2941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0" y="0"/>
              <a:ext cx="3429000" cy="304800"/>
            </a:xfrm>
            <a:custGeom>
              <a:rect b="b" l="l" r="r" t="t"/>
              <a:pathLst>
                <a:path extrusionOk="0" h="120000" w="120000">
                  <a:moveTo>
                    <a:pt x="0" y="37500"/>
                  </a:moveTo>
                  <a:cubicBezTo>
                    <a:pt x="0" y="27554"/>
                    <a:pt x="351" y="18016"/>
                    <a:pt x="976" y="10983"/>
                  </a:cubicBezTo>
                  <a:cubicBezTo>
                    <a:pt x="1601" y="3951"/>
                    <a:pt x="2449" y="0"/>
                    <a:pt x="3333" y="0"/>
                  </a:cubicBezTo>
                  <a:lnTo>
                    <a:pt x="116667" y="0"/>
                  </a:lnTo>
                  <a:cubicBezTo>
                    <a:pt x="118508" y="2"/>
                    <a:pt x="120000" y="16791"/>
                    <a:pt x="120000" y="37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1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142875" y="104775"/>
              <a:ext cx="95400" cy="954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5"/>
            <p:cNvSpPr/>
            <p:nvPr/>
          </p:nvSpPr>
          <p:spPr>
            <a:xfrm>
              <a:off x="295275" y="104775"/>
              <a:ext cx="95400" cy="954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447675" y="104775"/>
              <a:ext cx="95400" cy="954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5"/>
            <p:cNvSpPr txBox="1"/>
            <p:nvPr/>
          </p:nvSpPr>
          <p:spPr>
            <a:xfrm>
              <a:off x="142875" y="4191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# Navigate &amp; Train model</a:t>
              </a:r>
              <a:endParaRPr sz="8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cd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outlineflow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python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F2B134"/>
                  </a:solidFill>
                  <a:latin typeface="Consolas"/>
                  <a:ea typeface="Consolas"/>
                  <a:cs typeface="Consolas"/>
                  <a:sym typeface="Consolas"/>
                </a:rPr>
                <a:t>train.py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--data_csv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../mds_V2_5.372k.csv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--group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--msd_limit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6000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--steps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15000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--out_dir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outputs_full_plan_id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--seed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32" name="Google Shape;832;p35"/>
          <p:cNvGrpSpPr/>
          <p:nvPr/>
        </p:nvGrpSpPr>
        <p:grpSpPr>
          <a:xfrm>
            <a:off x="4383024" y="1619250"/>
            <a:ext cx="3429000" cy="3238500"/>
            <a:chOff x="0" y="0"/>
            <a:chExt cx="3429000" cy="3238500"/>
          </a:xfrm>
        </p:grpSpPr>
        <p:sp>
          <p:nvSpPr>
            <p:cNvPr id="833" name="Google Shape;833;p35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2941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5"/>
            <p:cNvSpPr/>
            <p:nvPr/>
          </p:nvSpPr>
          <p:spPr>
            <a:xfrm>
              <a:off x="0" y="0"/>
              <a:ext cx="3429000" cy="304800"/>
            </a:xfrm>
            <a:custGeom>
              <a:rect b="b" l="l" r="r" t="t"/>
              <a:pathLst>
                <a:path extrusionOk="0" h="120000" w="120000">
                  <a:moveTo>
                    <a:pt x="0" y="37500"/>
                  </a:moveTo>
                  <a:cubicBezTo>
                    <a:pt x="0" y="27554"/>
                    <a:pt x="351" y="18016"/>
                    <a:pt x="976" y="10983"/>
                  </a:cubicBezTo>
                  <a:cubicBezTo>
                    <a:pt x="1601" y="3951"/>
                    <a:pt x="2449" y="0"/>
                    <a:pt x="3333" y="0"/>
                  </a:cubicBezTo>
                  <a:lnTo>
                    <a:pt x="116667" y="0"/>
                  </a:lnTo>
                  <a:cubicBezTo>
                    <a:pt x="118508" y="2"/>
                    <a:pt x="120000" y="16791"/>
                    <a:pt x="120000" y="37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1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5"/>
            <p:cNvSpPr/>
            <p:nvPr/>
          </p:nvSpPr>
          <p:spPr>
            <a:xfrm>
              <a:off x="142875" y="104775"/>
              <a:ext cx="95400" cy="954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5"/>
            <p:cNvSpPr/>
            <p:nvPr/>
          </p:nvSpPr>
          <p:spPr>
            <a:xfrm>
              <a:off x="295275" y="104775"/>
              <a:ext cx="95400" cy="954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5"/>
            <p:cNvSpPr/>
            <p:nvPr/>
          </p:nvSpPr>
          <p:spPr>
            <a:xfrm>
              <a:off x="447675" y="104775"/>
              <a:ext cx="95400" cy="954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5"/>
            <p:cNvSpPr txBox="1"/>
            <p:nvPr/>
          </p:nvSpPr>
          <p:spPr>
            <a:xfrm>
              <a:off x="142875" y="4191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# Basic evaluation</a:t>
              </a:r>
              <a:endParaRPr sz="8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python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F2B134"/>
                  </a:solidFill>
                  <a:latin typeface="Consolas"/>
                  <a:ea typeface="Consolas"/>
                  <a:cs typeface="Consolas"/>
                  <a:sym typeface="Consolas"/>
                </a:rPr>
                <a:t>sample_eval.py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--out_dir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outputs_full_plan_id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--decoder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rect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--inception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--metric_cpu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--n_eval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600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--save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--seed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39" name="Google Shape;839;p35"/>
          <p:cNvGrpSpPr/>
          <p:nvPr/>
        </p:nvGrpSpPr>
        <p:grpSpPr>
          <a:xfrm>
            <a:off x="8171688" y="1619250"/>
            <a:ext cx="3429000" cy="3238500"/>
            <a:chOff x="0" y="0"/>
            <a:chExt cx="3429000" cy="3238500"/>
          </a:xfrm>
        </p:grpSpPr>
        <p:sp>
          <p:nvSpPr>
            <p:cNvPr id="840" name="Google Shape;840;p35"/>
            <p:cNvSpPr/>
            <p:nvPr/>
          </p:nvSpPr>
          <p:spPr>
            <a:xfrm>
              <a:off x="0" y="0"/>
              <a:ext cx="3429000" cy="3238500"/>
            </a:xfrm>
            <a:prstGeom prst="roundRect">
              <a:avLst>
                <a:gd fmla="val 2941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0" y="0"/>
              <a:ext cx="3429000" cy="304800"/>
            </a:xfrm>
            <a:custGeom>
              <a:rect b="b" l="l" r="r" t="t"/>
              <a:pathLst>
                <a:path extrusionOk="0" h="120000" w="120000">
                  <a:moveTo>
                    <a:pt x="0" y="37500"/>
                  </a:moveTo>
                  <a:cubicBezTo>
                    <a:pt x="0" y="27554"/>
                    <a:pt x="351" y="18016"/>
                    <a:pt x="976" y="10983"/>
                  </a:cubicBezTo>
                  <a:cubicBezTo>
                    <a:pt x="1601" y="3951"/>
                    <a:pt x="2449" y="0"/>
                    <a:pt x="3333" y="0"/>
                  </a:cubicBezTo>
                  <a:lnTo>
                    <a:pt x="116667" y="0"/>
                  </a:lnTo>
                  <a:cubicBezTo>
                    <a:pt x="118508" y="2"/>
                    <a:pt x="120000" y="16791"/>
                    <a:pt x="120000" y="37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61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142875" y="104775"/>
              <a:ext cx="95400" cy="95400"/>
            </a:xfrm>
            <a:prstGeom prst="ellipse">
              <a:avLst/>
            </a:prstGeom>
            <a:solidFill>
              <a:srgbClr val="F25F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295275" y="104775"/>
              <a:ext cx="95400" cy="95400"/>
            </a:xfrm>
            <a:prstGeom prst="ellipse">
              <a:avLst/>
            </a:prstGeom>
            <a:solidFill>
              <a:srgbClr val="F2B1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447675" y="104775"/>
              <a:ext cx="95400" cy="95400"/>
            </a:xfrm>
            <a:prstGeom prst="ellipse">
              <a:avLst/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5"/>
            <p:cNvSpPr txBox="1"/>
            <p:nvPr/>
          </p:nvSpPr>
          <p:spPr>
            <a:xfrm>
              <a:off x="142875" y="4191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8B949E"/>
                  </a:solidFill>
                  <a:latin typeface="Consolas"/>
                  <a:ea typeface="Consolas"/>
                  <a:cs typeface="Consolas"/>
                  <a:sym typeface="Consolas"/>
                </a:rPr>
                <a:t># Evaluation with alignment</a:t>
              </a:r>
              <a:endParaRPr sz="8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25F4C"/>
                  </a:solidFill>
                  <a:latin typeface="Consolas"/>
                  <a:ea typeface="Consolas"/>
                  <a:cs typeface="Consolas"/>
                  <a:sym typeface="Consolas"/>
                </a:rPr>
                <a:t>python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F2B134"/>
                  </a:solidFill>
                  <a:latin typeface="Consolas"/>
                  <a:ea typeface="Consolas"/>
                  <a:cs typeface="Consolas"/>
                  <a:sym typeface="Consolas"/>
                </a:rPr>
                <a:t>sample_eval.py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--out_dir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outputs_full_plan_id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--decoder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rect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--align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--grid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--churn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0.3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--inception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--metric_cpu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--n_eval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600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--save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\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58A6FF"/>
                  </a:solidFill>
                  <a:latin typeface="Consolas"/>
                  <a:ea typeface="Consolas"/>
                  <a:cs typeface="Consolas"/>
                  <a:sym typeface="Consolas"/>
                </a:rPr>
                <a:t>--seed</a:t>
              </a:r>
              <a:r>
                <a:rPr lang="en-US" sz="950">
                  <a:solidFill>
                    <a:srgbClr val="EAF1EF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950">
                  <a:solidFill>
                    <a:srgbClr val="7EE787"/>
                  </a:solidFill>
                  <a:latin typeface="Consolas"/>
                  <a:ea typeface="Consolas"/>
                  <a:cs typeface="Consolas"/>
                  <a:sym typeface="Consolas"/>
                </a:rPr>
                <a:t>42</a:t>
              </a:r>
              <a:endParaRPr sz="950">
                <a:solidFill>
                  <a:srgbClr val="EAF1E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46" name="Google Shape;846;p35"/>
          <p:cNvGrpSpPr/>
          <p:nvPr/>
        </p:nvGrpSpPr>
        <p:grpSpPr>
          <a:xfrm>
            <a:off x="594360" y="5095875"/>
            <a:ext cx="11006400" cy="685800"/>
            <a:chOff x="0" y="0"/>
            <a:chExt cx="11006400" cy="685800"/>
          </a:xfrm>
        </p:grpSpPr>
        <p:sp>
          <p:nvSpPr>
            <p:cNvPr id="847" name="Google Shape;847;p35"/>
            <p:cNvSpPr/>
            <p:nvPr/>
          </p:nvSpPr>
          <p:spPr>
            <a:xfrm>
              <a:off x="0" y="0"/>
              <a:ext cx="11006400" cy="685800"/>
            </a:xfrm>
            <a:prstGeom prst="roundRect">
              <a:avLst>
                <a:gd fmla="val 11111" name="adj"/>
              </a:avLst>
            </a:prstGeom>
            <a:solidFill>
              <a:srgbClr val="EAF6F4"/>
            </a:solidFill>
            <a:ln cap="flat" cmpd="sng" w="9525">
              <a:solidFill>
                <a:srgbClr val="D9DD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5"/>
            <p:cNvSpPr/>
            <p:nvPr/>
          </p:nvSpPr>
          <p:spPr>
            <a:xfrm>
              <a:off x="0" y="0"/>
              <a:ext cx="114300" cy="685800"/>
            </a:xfrm>
            <a:custGeom>
              <a:rect b="b" l="l" r="r" t="t"/>
              <a:pathLst>
                <a:path extrusionOk="0" h="120000" w="120000">
                  <a:moveTo>
                    <a:pt x="0" y="13333"/>
                  </a:moveTo>
                  <a:cubicBezTo>
                    <a:pt x="0" y="5967"/>
                    <a:pt x="35800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35800" y="120000"/>
                    <a:pt x="0" y="114033"/>
                    <a:pt x="0" y="106667"/>
                  </a:cubicBezTo>
                  <a:close/>
                </a:path>
              </a:pathLst>
            </a:cu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5"/>
            <p:cNvSpPr txBox="1"/>
            <p:nvPr/>
          </p:nvSpPr>
          <p:spPr>
            <a:xfrm>
              <a:off x="304800" y="0"/>
              <a:ext cx="10396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rPr>
                <a:t>For multi-seed robustness, repeat evaluation with seeds 42, 123, and 7, then average.</a:t>
              </a:r>
              <a:endParaRPr b="1" sz="1250">
                <a:solidFill>
                  <a:srgbClr val="1521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50" name="Google Shape;85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"/>
            <a:ext cx="12191676" cy="6857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925" y="152400"/>
            <a:ext cx="7382218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049655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6" cy="56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8F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1521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9"/>
          <p:cNvSpPr/>
          <p:nvPr/>
        </p:nvSpPr>
        <p:spPr>
          <a:xfrm>
            <a:off x="0" y="54864"/>
            <a:ext cx="2194500" cy="32100"/>
          </a:xfrm>
          <a:prstGeom prst="rect">
            <a:avLst/>
          </a:prstGeom>
          <a:solidFill>
            <a:srgbClr val="009F8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9"/>
          <p:cNvSpPr/>
          <p:nvPr/>
        </p:nvSpPr>
        <p:spPr>
          <a:xfrm>
            <a:off x="2194560" y="54864"/>
            <a:ext cx="1280100" cy="32100"/>
          </a:xfrm>
          <a:prstGeom prst="rect">
            <a:avLst/>
          </a:prstGeom>
          <a:solidFill>
            <a:srgbClr val="F25F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9"/>
          <p:cNvSpPr/>
          <p:nvPr/>
        </p:nvSpPr>
        <p:spPr>
          <a:xfrm>
            <a:off x="3474720" y="54864"/>
            <a:ext cx="1188600" cy="32100"/>
          </a:xfrm>
          <a:prstGeom prst="rect">
            <a:avLst/>
          </a:prstGeom>
          <a:solidFill>
            <a:srgbClr val="F2B1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9"/>
          <p:cNvSpPr txBox="1"/>
          <p:nvPr/>
        </p:nvSpPr>
        <p:spPr>
          <a:xfrm>
            <a:off x="502920" y="6473952"/>
            <a:ext cx="128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MAIN / 01</a:t>
            </a:r>
            <a:endParaRPr/>
          </a:p>
        </p:txBody>
      </p:sp>
      <p:sp>
        <p:nvSpPr>
          <p:cNvPr id="876" name="Google Shape;876;p39"/>
          <p:cNvSpPr txBox="1"/>
          <p:nvPr/>
        </p:nvSpPr>
        <p:spPr>
          <a:xfrm>
            <a:off x="9921240" y="6473952"/>
            <a:ext cx="1737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OutlineFlow</a:t>
            </a:r>
            <a:endParaRPr/>
          </a:p>
        </p:txBody>
      </p:sp>
      <p:sp>
        <p:nvSpPr>
          <p:cNvPr id="877" name="Google Shape;877;p39"/>
          <p:cNvSpPr/>
          <p:nvPr/>
        </p:nvSpPr>
        <p:spPr>
          <a:xfrm>
            <a:off x="594360" y="384048"/>
            <a:ext cx="1572900" cy="310800"/>
          </a:xfrm>
          <a:prstGeom prst="roundRect">
            <a:avLst>
              <a:gd fmla="val 16667" name="adj"/>
            </a:avLst>
          </a:prstGeom>
          <a:solidFill>
            <a:srgbClr val="FDEDE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 txBox="1"/>
          <p:nvPr/>
        </p:nvSpPr>
        <p:spPr>
          <a:xfrm>
            <a:off x="640080" y="416051"/>
            <a:ext cx="1481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25F4C"/>
                </a:solidFill>
                <a:latin typeface="Arial"/>
                <a:ea typeface="Arial"/>
                <a:cs typeface="Arial"/>
                <a:sym typeface="Arial"/>
              </a:rPr>
              <a:t>RESEARCH PITCH</a:t>
            </a:r>
            <a:endParaRPr/>
          </a:p>
        </p:txBody>
      </p:sp>
      <p:sp>
        <p:nvSpPr>
          <p:cNvPr id="879" name="Google Shape;879;p39"/>
          <p:cNvSpPr txBox="1"/>
          <p:nvPr/>
        </p:nvSpPr>
        <p:spPr>
          <a:xfrm>
            <a:off x="571500" y="857250"/>
            <a:ext cx="5143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5212A"/>
                </a:solidFill>
                <a:latin typeface="Play"/>
                <a:ea typeface="Play"/>
                <a:cs typeface="Play"/>
                <a:sym typeface="Play"/>
              </a:rPr>
              <a:t>OutlineFlow</a:t>
            </a:r>
            <a:endParaRPr b="1" sz="3600">
              <a:solidFill>
                <a:srgbClr val="1521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80" name="Google Shape;880;p39"/>
          <p:cNvSpPr txBox="1"/>
          <p:nvPr/>
        </p:nvSpPr>
        <p:spPr>
          <a:xfrm>
            <a:off x="571500" y="1524000"/>
            <a:ext cx="51435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rPr>
              <a:t>Outline in. Typed room polygons out.</a:t>
            </a:r>
            <a:endParaRPr b="0" sz="1500">
              <a:solidFill>
                <a:srgbClr val="5663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1" name="Google Shape;881;p39"/>
          <p:cNvGrpSpPr/>
          <p:nvPr/>
        </p:nvGrpSpPr>
        <p:grpSpPr>
          <a:xfrm>
            <a:off x="571500" y="2000250"/>
            <a:ext cx="4762500" cy="1952550"/>
            <a:chOff x="571500" y="2000250"/>
            <a:chExt cx="4762500" cy="1952550"/>
          </a:xfrm>
        </p:grpSpPr>
        <p:grpSp>
          <p:nvGrpSpPr>
            <p:cNvPr id="882" name="Google Shape;882;p39"/>
            <p:cNvGrpSpPr/>
            <p:nvPr/>
          </p:nvGrpSpPr>
          <p:grpSpPr>
            <a:xfrm>
              <a:off x="571500" y="2000250"/>
              <a:ext cx="4762500" cy="523800"/>
              <a:chOff x="571500" y="2000250"/>
              <a:chExt cx="4762500" cy="523800"/>
            </a:xfrm>
          </p:grpSpPr>
          <p:sp>
            <p:nvSpPr>
              <p:cNvPr id="883" name="Google Shape;883;p39"/>
              <p:cNvSpPr/>
              <p:nvPr/>
            </p:nvSpPr>
            <p:spPr>
              <a:xfrm>
                <a:off x="571500" y="2047875"/>
                <a:ext cx="762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009F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9"/>
              <p:cNvSpPr txBox="1"/>
              <p:nvPr/>
            </p:nvSpPr>
            <p:spPr>
              <a:xfrm>
                <a:off x="762000" y="2000250"/>
                <a:ext cx="457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9F8C"/>
                    </a:solidFill>
                    <a:latin typeface="Arial"/>
                    <a:ea typeface="Arial"/>
                    <a:cs typeface="Arial"/>
                    <a:sym typeface="Arial"/>
                  </a:rPr>
                  <a:t>INPUT</a:t>
                </a:r>
                <a:endParaRPr b="1" sz="110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Input is only the apartment or floor outline.</a:t>
                </a:r>
                <a:endParaRPr sz="13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p39"/>
            <p:cNvGrpSpPr/>
            <p:nvPr/>
          </p:nvGrpSpPr>
          <p:grpSpPr>
            <a:xfrm>
              <a:off x="571500" y="2714625"/>
              <a:ext cx="4762500" cy="523800"/>
              <a:chOff x="571500" y="2714625"/>
              <a:chExt cx="4762500" cy="523800"/>
            </a:xfrm>
          </p:grpSpPr>
          <p:sp>
            <p:nvSpPr>
              <p:cNvPr id="886" name="Google Shape;886;p39"/>
              <p:cNvSpPr/>
              <p:nvPr/>
            </p:nvSpPr>
            <p:spPr>
              <a:xfrm>
                <a:off x="571500" y="2762250"/>
                <a:ext cx="762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F25F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9"/>
              <p:cNvSpPr txBox="1"/>
              <p:nvPr/>
            </p:nvSpPr>
            <p:spPr>
              <a:xfrm>
                <a:off x="762000" y="2714625"/>
                <a:ext cx="457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25F4C"/>
                    </a:solidFill>
                    <a:latin typeface="Arial"/>
                    <a:ea typeface="Arial"/>
                    <a:cs typeface="Arial"/>
                    <a:sym typeface="Arial"/>
                  </a:rPr>
                  <a:t>OUTPUT</a:t>
                </a:r>
                <a:endParaRPr b="1" sz="1100">
                  <a:solidFill>
                    <a:srgbClr val="F25F4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is a set of vector room polygons plus room types.</a:t>
                </a:r>
                <a:endParaRPr sz="1350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8" name="Google Shape;888;p39"/>
            <p:cNvGrpSpPr/>
            <p:nvPr/>
          </p:nvGrpSpPr>
          <p:grpSpPr>
            <a:xfrm>
              <a:off x="571500" y="3429000"/>
              <a:ext cx="4762500" cy="523800"/>
              <a:chOff x="571500" y="3429000"/>
              <a:chExt cx="4762500" cy="523800"/>
            </a:xfrm>
          </p:grpSpPr>
          <p:sp>
            <p:nvSpPr>
              <p:cNvPr id="889" name="Google Shape;889;p39"/>
              <p:cNvSpPr/>
              <p:nvPr/>
            </p:nvSpPr>
            <p:spPr>
              <a:xfrm>
                <a:off x="571500" y="3476625"/>
                <a:ext cx="762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F2B13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9"/>
              <p:cNvSpPr txBox="1"/>
              <p:nvPr/>
            </p:nvSpPr>
            <p:spPr>
              <a:xfrm>
                <a:off x="762000" y="3429000"/>
                <a:ext cx="4572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18">
                    <a:solidFill>
                      <a:srgbClr val="F2B134"/>
                    </a:solidFill>
                    <a:latin typeface="Arial"/>
                    <a:ea typeface="Arial"/>
                    <a:cs typeface="Arial"/>
                    <a:sym typeface="Arial"/>
                  </a:rPr>
                  <a:t>THE CHALLENGE</a:t>
                </a:r>
                <a:endParaRPr b="1" sz="1018">
                  <a:solidFill>
                    <a:srgbClr val="F2B1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49">
                    <a:solidFill>
                      <a:srgbClr val="15212A"/>
                    </a:solidFill>
                    <a:latin typeface="Arial"/>
                    <a:ea typeface="Arial"/>
                    <a:cs typeface="Arial"/>
                    <a:sym typeface="Arial"/>
                  </a:rPr>
                  <a:t>The challenge is diversity: many valid interiors share one shell.</a:t>
                </a:r>
                <a:endParaRPr sz="1249">
                  <a:solidFill>
                    <a:srgbClr val="1521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1" name="Google Shape;891;p39"/>
          <p:cNvGrpSpPr/>
          <p:nvPr/>
        </p:nvGrpSpPr>
        <p:grpSpPr>
          <a:xfrm>
            <a:off x="571500" y="4238625"/>
            <a:ext cx="4857900" cy="1476300"/>
            <a:chOff x="571500" y="4238625"/>
            <a:chExt cx="4857900" cy="1476300"/>
          </a:xfrm>
        </p:grpSpPr>
        <p:sp>
          <p:nvSpPr>
            <p:cNvPr id="892" name="Google Shape;892;p39"/>
            <p:cNvSpPr/>
            <p:nvPr/>
          </p:nvSpPr>
          <p:spPr>
            <a:xfrm>
              <a:off x="571500" y="4238625"/>
              <a:ext cx="4857900" cy="1476300"/>
            </a:xfrm>
            <a:prstGeom prst="roundRect">
              <a:avLst>
                <a:gd fmla="val 10322" name="adj"/>
              </a:avLst>
            </a:prstGeom>
            <a:solidFill>
              <a:srgbClr val="1521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571500" y="4238625"/>
              <a:ext cx="57300" cy="1476300"/>
            </a:xfrm>
            <a:prstGeom prst="roundRect">
              <a:avLst>
                <a:gd fmla="val 50000" name="adj"/>
              </a:avLst>
            </a:prstGeom>
            <a:solidFill>
              <a:srgbClr val="009F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9"/>
            <p:cNvSpPr txBox="1"/>
            <p:nvPr/>
          </p:nvSpPr>
          <p:spPr>
            <a:xfrm>
              <a:off x="809625" y="4333875"/>
              <a:ext cx="4381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9F8C"/>
                  </a:solidFill>
                  <a:latin typeface="Arial"/>
                  <a:ea typeface="Arial"/>
                  <a:cs typeface="Arial"/>
                  <a:sym typeface="Arial"/>
                </a:rPr>
                <a:t>CORE CLAIM</a:t>
              </a:r>
              <a:endParaRPr b="1" sz="950">
                <a:solidFill>
                  <a:srgbClr val="009F8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modest metric matrix is the signal: diagnose variance collapse, then target geometry and diversity separately.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39"/>
          <p:cNvGrpSpPr/>
          <p:nvPr/>
        </p:nvGrpSpPr>
        <p:grpSpPr>
          <a:xfrm>
            <a:off x="5810250" y="857250"/>
            <a:ext cx="5810400" cy="4857900"/>
            <a:chOff x="5810250" y="857250"/>
            <a:chExt cx="5810400" cy="4857900"/>
          </a:xfrm>
        </p:grpSpPr>
        <p:sp>
          <p:nvSpPr>
            <p:cNvPr id="896" name="Google Shape;896;p39"/>
            <p:cNvSpPr/>
            <p:nvPr/>
          </p:nvSpPr>
          <p:spPr>
            <a:xfrm>
              <a:off x="5810250" y="857250"/>
              <a:ext cx="5810400" cy="4857900"/>
            </a:xfrm>
            <a:prstGeom prst="roundRect">
              <a:avLst>
                <a:gd fmla="val 4705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9"/>
            <p:cNvSpPr/>
            <p:nvPr/>
          </p:nvSpPr>
          <p:spPr>
            <a:xfrm>
              <a:off x="6048375" y="1524000"/>
              <a:ext cx="5334000" cy="2476500"/>
            </a:xfrm>
            <a:prstGeom prst="roundRect">
              <a:avLst>
                <a:gd fmla="val 4615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9"/>
            <p:cNvSpPr txBox="1"/>
            <p:nvPr/>
          </p:nvSpPr>
          <p:spPr>
            <a:xfrm>
              <a:off x="6048375" y="4238625"/>
              <a:ext cx="5334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Visual Generation Pipeline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6636E"/>
                  </a:solidFill>
                  <a:latin typeface="Arial"/>
                  <a:ea typeface="Arial"/>
                  <a:cs typeface="Arial"/>
                  <a:sym typeface="Arial"/>
                </a:rPr>
                <a:t>Existing repo example: outline reference/generation panel.</a:t>
              </a:r>
              <a:endParaRPr sz="1050">
                <a:solidFill>
                  <a:srgbClr val="5663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en_plan_id_7988.0.png" id="899" name="Google Shape;8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038" y="2000251"/>
            <a:ext cx="5280626" cy="17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